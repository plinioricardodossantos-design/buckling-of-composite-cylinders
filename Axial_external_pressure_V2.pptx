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82" r:id="rId3"/>
    <p:sldId id="378" r:id="rId4"/>
    <p:sldId id="379" r:id="rId5"/>
    <p:sldId id="380" r:id="rId6"/>
    <p:sldId id="38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11A7B3-3469-D3F0-10FC-51D4EFC2DA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7F8970-3171-50C3-EF83-4D94B03B2D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A7FEEB-D1B5-6721-9781-1FBFC506B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36EBB2-A1D0-426E-5643-411510191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B36567-45F3-A2D6-8071-849874BEE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8628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CB2065-E6B5-E4A4-DFA3-ED52F1A61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619DB9-C6F0-324B-845D-1ADC062ED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AB1A77-6C00-AFD7-8672-FA6A5F5D4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8A91A4-3D85-0A46-8674-82954FCC0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AC1FE3-789F-CDAA-57DF-3D3F6FE76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3430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D568ED-03DD-E1D6-8924-C9A5B35DA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3B5EA5-5A3C-992C-F4C0-31F315A27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19BF3B-7B6B-AD68-4D01-83ABBB932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6442C4-820B-1EEB-9DD1-038EDEAE3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32CBA63-BF74-41B7-60E3-2A00200D6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9897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32D37-B429-B31A-CCC7-407E19B77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1C36EC-8FA8-EE66-BB96-CB9864333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BB9739-15F4-939A-4D3B-92C9286E7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1EE03A7-99EE-AEBD-7FDA-04C6B31D3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52E8CE9-7ED0-0E4F-DE71-50B8FA67C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6F182F-7F0C-8F92-4DAE-AE6A66B97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821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4A0F8D-6514-91FC-2C79-4B8E545EE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28F935-8A8F-82C1-24FF-B817ED419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BA4E60D-6A2C-E47B-2A72-17F7B5703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A892E77-F04D-7394-3EF6-CE2CB63D13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C79B71B-B117-5416-9577-4E6FD2AFB5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9EA4F8F-5EAD-4318-C7E3-543685D1A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FBB908A-25DB-764A-A3CA-DC0CC68D4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48C9D8D-9806-BDA6-68C8-3F23A9BE0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909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096010-B196-1B3A-5E4F-D4A76511E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483EBE2-042C-7175-FDC5-F0044E75E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3C536D1-4222-FE9E-A146-24BD3B9E1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7FE578A-E8F1-E03A-3356-ECC768BD6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3702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9B463B4-9AA8-93AC-8993-A406AD5BC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CB7C251-82BE-38F7-798F-5267DE1BD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3425F3B-CDE3-9439-6072-3FDD2AE5F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7507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8E8A4E-1C01-E7E2-B498-A2055364A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E8633E-6F36-61AB-3907-F5255BBAA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BF41D90-5C69-F3A3-F2BB-93C8E1C4D5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AD7CD05-D76D-346C-133E-5149C8169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2D21B41-E63B-715F-A3BB-77A8D1B4B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C254A1-D345-38B1-662B-CFF120DFF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8085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980F4-DD5A-0778-A856-F2F20C0EA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A17A931-96C4-1D16-3D20-4E9B774E9E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79CA44A-4362-074B-08DA-81673B0FE2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2DEDD40-8BFA-5F16-543F-6B3F25E13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E45253-721D-691C-3C02-CA5C10757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8BDF70B-6946-A800-2F39-ED9F64273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698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FB0F33-5EF9-42A2-5641-3B6493CEC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5245644-F6DE-5619-D6D6-FA489FD25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C5B5FA-59B5-4DB2-9F7E-57CC307A6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7D8624-5133-BD8A-AC3C-2FCCE5552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08EBA0-07A5-0605-8BB0-32B3C5605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9194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EF9C305-69E1-552A-3073-DE7DE14BCF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73C0B3D-B91E-777D-E2E7-82A31A7CA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1C24AB-20F2-1539-DC39-B7E73DD10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24F1F-5A52-41E3-8A01-608E7A2E0B1F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87C5E2-39CB-A163-7123-78B62D1A6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87E3F3-94A1-D8BF-A7B3-3212BE4A8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75032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270" imgH="270" progId="TCLayout.ActiveDocument.1">
                  <p:embed/>
                </p:oleObj>
              </mc:Choice>
              <mc:Fallback>
                <p:oleObj name="Slide do think-cell" r:id="rId3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Espaço Reservado para Texto 2"/>
          <p:cNvSpPr>
            <a:spLocks noGrp="1"/>
          </p:cNvSpPr>
          <p:nvPr>
            <p:ph idx="1"/>
          </p:nvPr>
        </p:nvSpPr>
        <p:spPr>
          <a:xfrm>
            <a:off x="312419" y="879527"/>
            <a:ext cx="11567160" cy="4644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54000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marL="72000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marL="90000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marL="1080000" indent="-2857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pt-BR" noProof="0" dirty="0"/>
              <a:t>Clique para editar os estilos do texto mestre</a:t>
            </a:r>
          </a:p>
          <a:p>
            <a:pPr lvl="1"/>
            <a:r>
              <a:rPr lang="pt-BR" noProof="0" dirty="0"/>
              <a:t>Segundo nível</a:t>
            </a:r>
          </a:p>
          <a:p>
            <a:pPr lvl="2"/>
            <a:r>
              <a:rPr lang="pt-BR" noProof="0" dirty="0"/>
              <a:t>Terceiro nível</a:t>
            </a:r>
          </a:p>
          <a:p>
            <a:pPr lvl="3"/>
            <a:r>
              <a:rPr lang="pt-BR" noProof="0" dirty="0"/>
              <a:t>Quarto nível</a:t>
            </a:r>
          </a:p>
          <a:p>
            <a:pPr lvl="4"/>
            <a:r>
              <a:rPr lang="pt-BR" noProof="0" dirty="0"/>
              <a:t>Quinto nível</a:t>
            </a:r>
          </a:p>
        </p:txBody>
      </p:sp>
      <p:sp>
        <p:nvSpPr>
          <p:cNvPr id="17" name="Título 1"/>
          <p:cNvSpPr>
            <a:spLocks noGrp="1"/>
          </p:cNvSpPr>
          <p:nvPr>
            <p:ph type="title" hasCustomPrompt="1"/>
          </p:nvPr>
        </p:nvSpPr>
        <p:spPr>
          <a:xfrm>
            <a:off x="234042" y="255200"/>
            <a:ext cx="11567160" cy="504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lang="pt-BR" sz="2800" b="0" dirty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lvl="0"/>
            <a:r>
              <a:rPr lang="pt-BR" dirty="0"/>
              <a:t>Clique para editar o título mestre</a:t>
            </a:r>
          </a:p>
        </p:txBody>
      </p:sp>
      <p:cxnSp>
        <p:nvCxnSpPr>
          <p:cNvPr id="18" name="Conector reto 17"/>
          <p:cNvCxnSpPr/>
          <p:nvPr userDrawn="1"/>
        </p:nvCxnSpPr>
        <p:spPr>
          <a:xfrm>
            <a:off x="312420" y="707685"/>
            <a:ext cx="11567160" cy="0"/>
          </a:xfrm>
          <a:prstGeom prst="line">
            <a:avLst/>
          </a:prstGeom>
          <a:ln w="31750">
            <a:solidFill>
              <a:srgbClr val="FFAD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Quase 8 mil estudantes iniciam maratona do vestibular do ITA | ITA">
            <a:extLst>
              <a:ext uri="{FF2B5EF4-FFF2-40B4-BE49-F238E27FC236}">
                <a16:creationId xmlns:a16="http://schemas.microsoft.com/office/drawing/2014/main" id="{2B34FBE7-13F4-4EF5-9A53-4AFA0B1B0C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5274" y="114107"/>
            <a:ext cx="1477184" cy="56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NCA desenvolve projeto de acústica de motores a jato | ITA">
            <a:extLst>
              <a:ext uri="{FF2B5EF4-FFF2-40B4-BE49-F238E27FC236}">
                <a16:creationId xmlns:a16="http://schemas.microsoft.com/office/drawing/2014/main" id="{8C6F0130-683D-4691-858F-17B8CB5ED69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185" y="161792"/>
            <a:ext cx="1805394" cy="491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0F54BC8D-6905-410E-B10E-5066621D869E}"/>
              </a:ext>
            </a:extLst>
          </p:cNvPr>
          <p:cNvCxnSpPr/>
          <p:nvPr userDrawn="1"/>
        </p:nvCxnSpPr>
        <p:spPr>
          <a:xfrm>
            <a:off x="308064" y="6437937"/>
            <a:ext cx="11567160" cy="0"/>
          </a:xfrm>
          <a:prstGeom prst="line">
            <a:avLst/>
          </a:prstGeom>
          <a:ln w="31750">
            <a:solidFill>
              <a:srgbClr val="FFAD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4C136F-D594-4ED1-AA57-690D475C4DF9}"/>
              </a:ext>
            </a:extLst>
          </p:cNvPr>
          <p:cNvSpPr txBox="1"/>
          <p:nvPr userDrawn="1"/>
        </p:nvSpPr>
        <p:spPr>
          <a:xfrm>
            <a:off x="229686" y="6468600"/>
            <a:ext cx="2576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alibri Light" panose="020F0302020204030204" pitchFamily="34" charset="0"/>
                <a:cs typeface="Calibri Light" panose="020F0302020204030204" pitchFamily="34" charset="0"/>
              </a:rPr>
              <a:t>Plínio Ricardo dos Santos</a:t>
            </a:r>
            <a:endParaRPr lang="en-GB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36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EB32AE1-DF9B-4B57-43D1-F8C8D4EDF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FFCB15D-C9E0-1A33-1F9D-1FFFA48DF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3E57BB-750E-7AE2-81A1-B6306F1FDB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24F1F-5A52-41E3-8A01-608E7A2E0B1F}" type="datetimeFigureOut">
              <a:rPr lang="en-GB" smtClean="0"/>
              <a:t>27/08/2026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8FA500-776F-D7F3-9CEE-9A59FD57F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6C445F-B0CA-9F4A-8900-B722AB243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5DA0A-DA6E-4A0C-AFE1-E15B703938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0251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3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12" Type="http://schemas.openxmlformats.org/officeDocument/2006/relationships/oleObject" Target="../embeddings/oleObject9.bin"/><Relationship Id="rId17" Type="http://schemas.openxmlformats.org/officeDocument/2006/relationships/image" Target="../media/image13.wmf"/><Relationship Id="rId2" Type="http://schemas.openxmlformats.org/officeDocument/2006/relationships/oleObject" Target="../embeddings/oleObject4.bin"/><Relationship Id="rId16" Type="http://schemas.openxmlformats.org/officeDocument/2006/relationships/oleObject" Target="../embeddings/oleObject11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5" Type="http://schemas.openxmlformats.org/officeDocument/2006/relationships/image" Target="../media/image12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9.wmf"/><Relationship Id="rId14" Type="http://schemas.openxmlformats.org/officeDocument/2006/relationships/oleObject" Target="../embeddings/oleObject10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19.wmf"/><Relationship Id="rId3" Type="http://schemas.openxmlformats.org/officeDocument/2006/relationships/image" Target="../media/image14.wmf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17.bin"/><Relationship Id="rId17" Type="http://schemas.openxmlformats.org/officeDocument/2006/relationships/image" Target="../media/image21.wmf"/><Relationship Id="rId2" Type="http://schemas.openxmlformats.org/officeDocument/2006/relationships/oleObject" Target="../embeddings/oleObject12.bin"/><Relationship Id="rId16" Type="http://schemas.openxmlformats.org/officeDocument/2006/relationships/oleObject" Target="../embeddings/oleObject1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18.wmf"/><Relationship Id="rId5" Type="http://schemas.openxmlformats.org/officeDocument/2006/relationships/image" Target="../media/image15.wmf"/><Relationship Id="rId15" Type="http://schemas.openxmlformats.org/officeDocument/2006/relationships/image" Target="../media/image20.w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7.emf"/><Relationship Id="rId14" Type="http://schemas.openxmlformats.org/officeDocument/2006/relationships/oleObject" Target="../embeddings/oleObject18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image" Target="../media/image27.wmf"/><Relationship Id="rId3" Type="http://schemas.openxmlformats.org/officeDocument/2006/relationships/image" Target="../media/image22.emf"/><Relationship Id="rId7" Type="http://schemas.openxmlformats.org/officeDocument/2006/relationships/image" Target="../media/image24.wmf"/><Relationship Id="rId12" Type="http://schemas.openxmlformats.org/officeDocument/2006/relationships/oleObject" Target="../embeddings/oleObject25.bin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26.wmf"/><Relationship Id="rId5" Type="http://schemas.openxmlformats.org/officeDocument/2006/relationships/image" Target="../media/image23.wmf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21.bin"/><Relationship Id="rId9" Type="http://schemas.openxmlformats.org/officeDocument/2006/relationships/image" Target="../media/image25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613128-864E-495E-967E-7C5C1FF2CA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7710" y="2073708"/>
            <a:ext cx="9144000" cy="1079009"/>
          </a:xfrm>
        </p:spPr>
        <p:txBody>
          <a:bodyPr>
            <a:noAutofit/>
          </a:bodyPr>
          <a:lstStyle/>
          <a:p>
            <a:r>
              <a:rPr lang="en-GB" sz="4400" dirty="0"/>
              <a:t>Ritz for Cylinders </a:t>
            </a:r>
            <a:br>
              <a:rPr lang="en-GB" sz="4400" dirty="0"/>
            </a:br>
            <a:r>
              <a:rPr lang="en-GB" sz="4400" dirty="0"/>
              <a:t>Under External Pressure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B74479-E07B-4B57-B586-EE705534B4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9303" y="4179958"/>
            <a:ext cx="9144000" cy="1099770"/>
          </a:xfrm>
        </p:spPr>
        <p:txBody>
          <a:bodyPr/>
          <a:lstStyle/>
          <a:p>
            <a:r>
              <a:rPr lang="en-GB" dirty="0"/>
              <a:t>Plínio R. Santos</a:t>
            </a:r>
          </a:p>
        </p:txBody>
      </p:sp>
    </p:spTree>
    <p:extLst>
      <p:ext uri="{BB962C8B-B14F-4D97-AF65-F5344CB8AC3E}">
        <p14:creationId xmlns:p14="http://schemas.microsoft.com/office/powerpoint/2010/main" val="795036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3114A-1A07-0282-9309-7964F1519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860343A-8606-3A26-97B5-6FEE323BF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--</a:t>
            </a:r>
          </a:p>
        </p:txBody>
      </p:sp>
      <p:graphicFrame>
        <p:nvGraphicFramePr>
          <p:cNvPr id="26" name="Objeto 10">
            <a:extLst>
              <a:ext uri="{FF2B5EF4-FFF2-40B4-BE49-F238E27FC236}">
                <a16:creationId xmlns:a16="http://schemas.microsoft.com/office/drawing/2014/main" id="{FD543258-8270-B6DC-4ED8-C6992C74BC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0874234"/>
              </p:ext>
            </p:extLst>
          </p:nvPr>
        </p:nvGraphicFramePr>
        <p:xfrm>
          <a:off x="404813" y="1239838"/>
          <a:ext cx="11684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88840" imgH="342720" progId="Equation.DSMT4">
                  <p:embed/>
                </p:oleObj>
              </mc:Choice>
              <mc:Fallback>
                <p:oleObj name="Equation" r:id="rId2" imgW="888840" imgH="342720" progId="Equation.DSMT4">
                  <p:embed/>
                  <p:pic>
                    <p:nvPicPr>
                      <p:cNvPr id="26" name="Objeto 10">
                        <a:extLst>
                          <a:ext uri="{FF2B5EF4-FFF2-40B4-BE49-F238E27FC236}">
                            <a16:creationId xmlns:a16="http://schemas.microsoft.com/office/drawing/2014/main" id="{74951D3F-EA70-0E45-A7B7-F0D6763D6C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4813" y="1239838"/>
                        <a:ext cx="1168400" cy="450850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to 10">
            <a:extLst>
              <a:ext uri="{FF2B5EF4-FFF2-40B4-BE49-F238E27FC236}">
                <a16:creationId xmlns:a16="http://schemas.microsoft.com/office/drawing/2014/main" id="{F7260CA3-90EE-ED29-7764-A4B9242A6C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3969909"/>
              </p:ext>
            </p:extLst>
          </p:nvPr>
        </p:nvGraphicFramePr>
        <p:xfrm>
          <a:off x="338138" y="1916113"/>
          <a:ext cx="869950" cy="24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0240" imgH="190440" progId="Equation.DSMT4">
                  <p:embed/>
                </p:oleObj>
              </mc:Choice>
              <mc:Fallback>
                <p:oleObj name="Equation" r:id="rId4" imgW="660240" imgH="190440" progId="Equation.DSMT4">
                  <p:embed/>
                  <p:pic>
                    <p:nvPicPr>
                      <p:cNvPr id="27" name="Objeto 10">
                        <a:extLst>
                          <a:ext uri="{FF2B5EF4-FFF2-40B4-BE49-F238E27FC236}">
                            <a16:creationId xmlns:a16="http://schemas.microsoft.com/office/drawing/2014/main" id="{032FAD44-D276-F6A0-EEAD-76F6715B75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8138" y="1916113"/>
                        <a:ext cx="869950" cy="249237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15002911-E9F3-219B-D19A-E06355649602}"/>
              </a:ext>
            </a:extLst>
          </p:cNvPr>
          <p:cNvSpPr/>
          <p:nvPr/>
        </p:nvSpPr>
        <p:spPr>
          <a:xfrm>
            <a:off x="4780230" y="1991762"/>
            <a:ext cx="774071" cy="127653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87D8651-1E6F-DBE3-4E80-170BAA45B118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5167266" y="1815978"/>
            <a:ext cx="3198136" cy="1757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5E6E25-76B4-477A-8B56-48992C163F6A}"/>
              </a:ext>
            </a:extLst>
          </p:cNvPr>
          <p:cNvCxnSpPr/>
          <p:nvPr/>
        </p:nvCxnSpPr>
        <p:spPr>
          <a:xfrm flipV="1">
            <a:off x="5191410" y="3093070"/>
            <a:ext cx="2892582" cy="1757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9B0777A-1A6F-2A4D-E238-35F7A2509076}"/>
              </a:ext>
            </a:extLst>
          </p:cNvPr>
          <p:cNvCxnSpPr/>
          <p:nvPr/>
        </p:nvCxnSpPr>
        <p:spPr>
          <a:xfrm>
            <a:off x="4092167" y="2630031"/>
            <a:ext cx="6880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B9C7774-0395-49D5-A59C-66E4D1D913F4}"/>
              </a:ext>
            </a:extLst>
          </p:cNvPr>
          <p:cNvCxnSpPr/>
          <p:nvPr/>
        </p:nvCxnSpPr>
        <p:spPr>
          <a:xfrm>
            <a:off x="4300393" y="2005189"/>
            <a:ext cx="6880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02DF333-5410-0DD2-D4F2-98E7639E6C95}"/>
              </a:ext>
            </a:extLst>
          </p:cNvPr>
          <p:cNvCxnSpPr/>
          <p:nvPr/>
        </p:nvCxnSpPr>
        <p:spPr>
          <a:xfrm>
            <a:off x="4680635" y="2131938"/>
            <a:ext cx="6880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BCB0C18-A256-CCD6-2964-177AB3ED9A93}"/>
              </a:ext>
            </a:extLst>
          </p:cNvPr>
          <p:cNvCxnSpPr>
            <a:cxnSpLocks/>
          </p:cNvCxnSpPr>
          <p:nvPr/>
        </p:nvCxnSpPr>
        <p:spPr>
          <a:xfrm>
            <a:off x="4450080" y="3180962"/>
            <a:ext cx="5383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6AA1784-390F-651B-2501-C0C5235FA01D}"/>
              </a:ext>
            </a:extLst>
          </p:cNvPr>
          <p:cNvCxnSpPr/>
          <p:nvPr/>
        </p:nvCxnSpPr>
        <p:spPr>
          <a:xfrm>
            <a:off x="4705537" y="3019329"/>
            <a:ext cx="6880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BC32059-4329-9C9C-8BFC-43B124873CA4}"/>
              </a:ext>
            </a:extLst>
          </p:cNvPr>
          <p:cNvCxnSpPr/>
          <p:nvPr/>
        </p:nvCxnSpPr>
        <p:spPr>
          <a:xfrm>
            <a:off x="4847378" y="2630031"/>
            <a:ext cx="6880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D5275C8-BD30-4A6F-0FAA-E177097C7F7A}"/>
              </a:ext>
            </a:extLst>
          </p:cNvPr>
          <p:cNvCxnSpPr>
            <a:cxnSpLocks/>
          </p:cNvCxnSpPr>
          <p:nvPr/>
        </p:nvCxnSpPr>
        <p:spPr>
          <a:xfrm>
            <a:off x="6089964" y="1279968"/>
            <a:ext cx="0" cy="464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56D205-822E-CC30-5D6B-80127885A55F}"/>
              </a:ext>
            </a:extLst>
          </p:cNvPr>
          <p:cNvCxnSpPr>
            <a:cxnSpLocks/>
          </p:cNvCxnSpPr>
          <p:nvPr/>
        </p:nvCxnSpPr>
        <p:spPr>
          <a:xfrm>
            <a:off x="6631665" y="1274653"/>
            <a:ext cx="0" cy="464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C1EEB41-CCAB-00F7-83B7-EAF0FD0F94AD}"/>
              </a:ext>
            </a:extLst>
          </p:cNvPr>
          <p:cNvCxnSpPr>
            <a:cxnSpLocks/>
          </p:cNvCxnSpPr>
          <p:nvPr/>
        </p:nvCxnSpPr>
        <p:spPr>
          <a:xfrm>
            <a:off x="7437424" y="1239837"/>
            <a:ext cx="0" cy="464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F311FA3-2038-0FCE-7CF4-20EB6A0A561A}"/>
              </a:ext>
            </a:extLst>
          </p:cNvPr>
          <p:cNvCxnSpPr>
            <a:cxnSpLocks/>
          </p:cNvCxnSpPr>
          <p:nvPr/>
        </p:nvCxnSpPr>
        <p:spPr>
          <a:xfrm flipH="1" flipV="1">
            <a:off x="6207663" y="2630031"/>
            <a:ext cx="424002" cy="221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1141991-BB44-F8E4-073B-CF396FED6E13}"/>
              </a:ext>
            </a:extLst>
          </p:cNvPr>
          <p:cNvCxnSpPr>
            <a:cxnSpLocks/>
          </p:cNvCxnSpPr>
          <p:nvPr/>
        </p:nvCxnSpPr>
        <p:spPr>
          <a:xfrm flipH="1" flipV="1">
            <a:off x="6861025" y="2630031"/>
            <a:ext cx="424002" cy="221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B2724D4-818F-CBCB-FA60-4741F1317486}"/>
              </a:ext>
            </a:extLst>
          </p:cNvPr>
          <p:cNvCxnSpPr>
            <a:cxnSpLocks/>
          </p:cNvCxnSpPr>
          <p:nvPr/>
        </p:nvCxnSpPr>
        <p:spPr>
          <a:xfrm flipH="1" flipV="1">
            <a:off x="7807661" y="2584764"/>
            <a:ext cx="424002" cy="2218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82A1A49-23F0-BDC3-3FF7-472FB4CC5FDD}"/>
              </a:ext>
            </a:extLst>
          </p:cNvPr>
          <p:cNvCxnSpPr>
            <a:cxnSpLocks/>
          </p:cNvCxnSpPr>
          <p:nvPr/>
        </p:nvCxnSpPr>
        <p:spPr>
          <a:xfrm flipV="1">
            <a:off x="6017622" y="3429000"/>
            <a:ext cx="0" cy="431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24E8628-6348-CE95-E24E-D0F68420AEF8}"/>
              </a:ext>
            </a:extLst>
          </p:cNvPr>
          <p:cNvCxnSpPr>
            <a:cxnSpLocks/>
          </p:cNvCxnSpPr>
          <p:nvPr/>
        </p:nvCxnSpPr>
        <p:spPr>
          <a:xfrm flipV="1">
            <a:off x="6745295" y="3380063"/>
            <a:ext cx="0" cy="431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BAFAEA6-6D3A-D691-A9E7-EEB5DF4793BF}"/>
              </a:ext>
            </a:extLst>
          </p:cNvPr>
          <p:cNvCxnSpPr>
            <a:cxnSpLocks/>
          </p:cNvCxnSpPr>
          <p:nvPr/>
        </p:nvCxnSpPr>
        <p:spPr>
          <a:xfrm flipV="1">
            <a:off x="7807661" y="3429000"/>
            <a:ext cx="0" cy="431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4563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--</a:t>
            </a:r>
          </a:p>
        </p:txBody>
      </p:sp>
      <p:sp>
        <p:nvSpPr>
          <p:cNvPr id="7" name="CaixaDeTexto 2">
            <a:extLst>
              <a:ext uri="{FF2B5EF4-FFF2-40B4-BE49-F238E27FC236}">
                <a16:creationId xmlns:a16="http://schemas.microsoft.com/office/drawing/2014/main" id="{41A18EDC-FDA8-CF73-C4B4-087A25B292EB}"/>
              </a:ext>
            </a:extLst>
          </p:cNvPr>
          <p:cNvSpPr txBox="1"/>
          <p:nvPr/>
        </p:nvSpPr>
        <p:spPr>
          <a:xfrm>
            <a:off x="160813" y="785254"/>
            <a:ext cx="1354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Formulation</a:t>
            </a:r>
            <a:endParaRPr lang="pt-BR" b="1" dirty="0"/>
          </a:p>
        </p:txBody>
      </p:sp>
      <p:sp>
        <p:nvSpPr>
          <p:cNvPr id="11" name="CaixaDeTexto 27">
            <a:extLst>
              <a:ext uri="{FF2B5EF4-FFF2-40B4-BE49-F238E27FC236}">
                <a16:creationId xmlns:a16="http://schemas.microsoft.com/office/drawing/2014/main" id="{0400230B-CCD6-E7EA-DFBF-F01B1D63E222}"/>
              </a:ext>
            </a:extLst>
          </p:cNvPr>
          <p:cNvSpPr txBox="1"/>
          <p:nvPr/>
        </p:nvSpPr>
        <p:spPr>
          <a:xfrm>
            <a:off x="184437" y="1693590"/>
            <a:ext cx="5444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a typeface="Times New Roman" panose="02020603050405020304" pitchFamily="18" charset="0"/>
              </a:rPr>
              <a:t>P</a:t>
            </a:r>
            <a:r>
              <a:rPr lang="en-US" sz="1800" dirty="0">
                <a:effectLst/>
                <a:ea typeface="Times New Roman" panose="02020603050405020304" pitchFamily="18" charset="0"/>
              </a:rPr>
              <a:t>otential of the external load</a:t>
            </a:r>
            <a:endParaRPr lang="pt-BR" dirty="0"/>
          </a:p>
        </p:txBody>
      </p:sp>
      <p:sp>
        <p:nvSpPr>
          <p:cNvPr id="13" name="CaixaDeTexto 28">
            <a:extLst>
              <a:ext uri="{FF2B5EF4-FFF2-40B4-BE49-F238E27FC236}">
                <a16:creationId xmlns:a16="http://schemas.microsoft.com/office/drawing/2014/main" id="{39AD59E5-7073-9F39-23D4-F855E3F5E079}"/>
              </a:ext>
            </a:extLst>
          </p:cNvPr>
          <p:cNvSpPr txBox="1"/>
          <p:nvPr/>
        </p:nvSpPr>
        <p:spPr>
          <a:xfrm>
            <a:off x="160813" y="1192735"/>
            <a:ext cx="5602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</a:rPr>
              <a:t>Ritz Method for </a:t>
            </a:r>
            <a:r>
              <a:rPr lang="en-US" sz="1800" b="1" dirty="0">
                <a:solidFill>
                  <a:srgbClr val="7030A0"/>
                </a:solidFill>
                <a:effectLst/>
              </a:rPr>
              <a:t>Stability Analysis </a:t>
            </a:r>
            <a:r>
              <a:rPr lang="en-US" sz="1800" b="1" dirty="0">
                <a:effectLst/>
              </a:rPr>
              <a:t>of Composite Cylinders</a:t>
            </a:r>
            <a:endParaRPr lang="pt-BR" dirty="0"/>
          </a:p>
        </p:txBody>
      </p:sp>
      <p:graphicFrame>
        <p:nvGraphicFramePr>
          <p:cNvPr id="14" name="Objeto 4">
            <a:extLst>
              <a:ext uri="{FF2B5EF4-FFF2-40B4-BE49-F238E27FC236}">
                <a16:creationId xmlns:a16="http://schemas.microsoft.com/office/drawing/2014/main" id="{2F62A532-04EB-DA2A-4B92-404B6EF0B3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7664170"/>
              </p:ext>
            </p:extLst>
          </p:nvPr>
        </p:nvGraphicFramePr>
        <p:xfrm>
          <a:off x="238126" y="2285179"/>
          <a:ext cx="22637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42920" imgH="406080" progId="Equation.DSMT4">
                  <p:embed/>
                </p:oleObj>
              </mc:Choice>
              <mc:Fallback>
                <p:oleObj name="Equation" r:id="rId2" imgW="1942920" imgH="406080" progId="Equation.DSMT4">
                  <p:embed/>
                  <p:pic>
                    <p:nvPicPr>
                      <p:cNvPr id="5" name="Objeto 4">
                        <a:extLst>
                          <a:ext uri="{FF2B5EF4-FFF2-40B4-BE49-F238E27FC236}">
                            <a16:creationId xmlns:a16="http://schemas.microsoft.com/office/drawing/2014/main" id="{27AA696D-F1B5-79FC-5175-DBA464B729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8126" y="2285179"/>
                        <a:ext cx="2263775" cy="473075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to 10">
            <a:extLst>
              <a:ext uri="{FF2B5EF4-FFF2-40B4-BE49-F238E27FC236}">
                <a16:creationId xmlns:a16="http://schemas.microsoft.com/office/drawing/2014/main" id="{4971EEDE-94D9-4C00-E4CB-8C4DA5EA0B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7216407"/>
              </p:ext>
            </p:extLst>
          </p:nvPr>
        </p:nvGraphicFramePr>
        <p:xfrm>
          <a:off x="4203055" y="2290254"/>
          <a:ext cx="1287000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77760" imgH="355320" progId="Equation.DSMT4">
                  <p:embed/>
                </p:oleObj>
              </mc:Choice>
              <mc:Fallback>
                <p:oleObj name="Equation" r:id="rId4" imgW="977760" imgH="355320" progId="Equation.DSMT4">
                  <p:embed/>
                  <p:pic>
                    <p:nvPicPr>
                      <p:cNvPr id="11" name="Objeto 10">
                        <a:extLst>
                          <a:ext uri="{FF2B5EF4-FFF2-40B4-BE49-F238E27FC236}">
                            <a16:creationId xmlns:a16="http://schemas.microsoft.com/office/drawing/2014/main" id="{57507DCF-7537-F0F5-37BE-8F55A8264F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203055" y="2290254"/>
                        <a:ext cx="1287000" cy="468000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to 11">
            <a:extLst>
              <a:ext uri="{FF2B5EF4-FFF2-40B4-BE49-F238E27FC236}">
                <a16:creationId xmlns:a16="http://schemas.microsoft.com/office/drawing/2014/main" id="{CBD1DEFB-29D5-FD0F-351C-3E28AAB7EA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9804360"/>
              </p:ext>
            </p:extLst>
          </p:nvPr>
        </p:nvGraphicFramePr>
        <p:xfrm>
          <a:off x="234042" y="2980302"/>
          <a:ext cx="9563101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563040" imgH="1143000" progId="Equation.DSMT4">
                  <p:embed/>
                </p:oleObj>
              </mc:Choice>
              <mc:Fallback>
                <p:oleObj name="Equation" r:id="rId6" imgW="9563040" imgH="1143000" progId="Equation.DSMT4">
                  <p:embed/>
                  <p:pic>
                    <p:nvPicPr>
                      <p:cNvPr id="12" name="Objeto 11">
                        <a:extLst>
                          <a:ext uri="{FF2B5EF4-FFF2-40B4-BE49-F238E27FC236}">
                            <a16:creationId xmlns:a16="http://schemas.microsoft.com/office/drawing/2014/main" id="{F905E838-9793-A475-FA1F-F67F7F798A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4042" y="2980302"/>
                        <a:ext cx="9563101" cy="1143000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to 12">
            <a:extLst>
              <a:ext uri="{FF2B5EF4-FFF2-40B4-BE49-F238E27FC236}">
                <a16:creationId xmlns:a16="http://schemas.microsoft.com/office/drawing/2014/main" id="{BFFF8A76-96EC-5A9B-DBFC-9F500901E3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4157082"/>
              </p:ext>
            </p:extLst>
          </p:nvPr>
        </p:nvGraphicFramePr>
        <p:xfrm>
          <a:off x="234042" y="4315689"/>
          <a:ext cx="4754563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581280" imgH="355320" progId="Equation.DSMT4">
                  <p:embed/>
                </p:oleObj>
              </mc:Choice>
              <mc:Fallback>
                <p:oleObj name="Equation" r:id="rId8" imgW="3581280" imgH="355320" progId="Equation.DSMT4">
                  <p:embed/>
                  <p:pic>
                    <p:nvPicPr>
                      <p:cNvPr id="13" name="Objeto 12">
                        <a:extLst>
                          <a:ext uri="{FF2B5EF4-FFF2-40B4-BE49-F238E27FC236}">
                            <a16:creationId xmlns:a16="http://schemas.microsoft.com/office/drawing/2014/main" id="{2B732A7D-FF7E-7BCC-DDC8-61D36A7E65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34042" y="4315689"/>
                        <a:ext cx="4754563" cy="471487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to 13">
            <a:extLst>
              <a:ext uri="{FF2B5EF4-FFF2-40B4-BE49-F238E27FC236}">
                <a16:creationId xmlns:a16="http://schemas.microsoft.com/office/drawing/2014/main" id="{E035A3B1-42FE-CEAE-52DC-15BD636A64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697752"/>
              </p:ext>
            </p:extLst>
          </p:nvPr>
        </p:nvGraphicFramePr>
        <p:xfrm>
          <a:off x="250825" y="5041900"/>
          <a:ext cx="19685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68480" imgH="1054080" progId="Equation.DSMT4">
                  <p:embed/>
                </p:oleObj>
              </mc:Choice>
              <mc:Fallback>
                <p:oleObj name="Equation" r:id="rId10" imgW="1968480" imgH="1054080" progId="Equation.DSMT4">
                  <p:embed/>
                  <p:pic>
                    <p:nvPicPr>
                      <p:cNvPr id="14" name="Objeto 13">
                        <a:extLst>
                          <a:ext uri="{FF2B5EF4-FFF2-40B4-BE49-F238E27FC236}">
                            <a16:creationId xmlns:a16="http://schemas.microsoft.com/office/drawing/2014/main" id="{D150D828-E6B3-6AA1-1B0E-BA49CE5C5F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50825" y="5041900"/>
                        <a:ext cx="1968500" cy="1054100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" name="Conector de Seta Reta 5">
            <a:extLst>
              <a:ext uri="{FF2B5EF4-FFF2-40B4-BE49-F238E27FC236}">
                <a16:creationId xmlns:a16="http://schemas.microsoft.com/office/drawing/2014/main" id="{8BC9B9AB-F6F3-F5BE-E4E2-C90556CDA0A8}"/>
              </a:ext>
            </a:extLst>
          </p:cNvPr>
          <p:cNvCxnSpPr>
            <a:cxnSpLocks/>
          </p:cNvCxnSpPr>
          <p:nvPr/>
        </p:nvCxnSpPr>
        <p:spPr>
          <a:xfrm>
            <a:off x="3538538" y="2509782"/>
            <a:ext cx="424016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Objeto 10">
            <a:extLst>
              <a:ext uri="{FF2B5EF4-FFF2-40B4-BE49-F238E27FC236}">
                <a16:creationId xmlns:a16="http://schemas.microsoft.com/office/drawing/2014/main" id="{39A6ED35-74D4-AC65-EF7C-E3899472F8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4607838"/>
              </p:ext>
            </p:extLst>
          </p:nvPr>
        </p:nvGraphicFramePr>
        <p:xfrm>
          <a:off x="6010275" y="2290763"/>
          <a:ext cx="130333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90360" imgH="355320" progId="Equation.DSMT4">
                  <p:embed/>
                </p:oleObj>
              </mc:Choice>
              <mc:Fallback>
                <p:oleObj name="Equation" r:id="rId12" imgW="990360" imgH="355320" progId="Equation.DSMT4">
                  <p:embed/>
                  <p:pic>
                    <p:nvPicPr>
                      <p:cNvPr id="17" name="Objeto 10">
                        <a:extLst>
                          <a:ext uri="{FF2B5EF4-FFF2-40B4-BE49-F238E27FC236}">
                            <a16:creationId xmlns:a16="http://schemas.microsoft.com/office/drawing/2014/main" id="{4971EEDE-94D9-4C00-E4CB-8C4DA5EA0B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010275" y="2290763"/>
                        <a:ext cx="1303338" cy="466725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to 12">
            <a:extLst>
              <a:ext uri="{FF2B5EF4-FFF2-40B4-BE49-F238E27FC236}">
                <a16:creationId xmlns:a16="http://schemas.microsoft.com/office/drawing/2014/main" id="{B49DE047-39A3-0570-91E6-B7A4FB56F0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4165290"/>
              </p:ext>
            </p:extLst>
          </p:nvPr>
        </p:nvGraphicFramePr>
        <p:xfrm>
          <a:off x="5256328" y="4315689"/>
          <a:ext cx="3894137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933640" imgH="355320" progId="Equation.DSMT4">
                  <p:embed/>
                </p:oleObj>
              </mc:Choice>
              <mc:Fallback>
                <p:oleObj name="Equation" r:id="rId14" imgW="2933640" imgH="355320" progId="Equation.DSMT4">
                  <p:embed/>
                  <p:pic>
                    <p:nvPicPr>
                      <p:cNvPr id="20" name="Objeto 12">
                        <a:extLst>
                          <a:ext uri="{FF2B5EF4-FFF2-40B4-BE49-F238E27FC236}">
                            <a16:creationId xmlns:a16="http://schemas.microsoft.com/office/drawing/2014/main" id="{BFFF8A76-96EC-5A9B-DBFC-9F500901E3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256328" y="4315689"/>
                        <a:ext cx="3894137" cy="471488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to 13">
            <a:extLst>
              <a:ext uri="{FF2B5EF4-FFF2-40B4-BE49-F238E27FC236}">
                <a16:creationId xmlns:a16="http://schemas.microsoft.com/office/drawing/2014/main" id="{D2A3955B-87AF-1852-3A2B-BF55E45D07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4620062"/>
              </p:ext>
            </p:extLst>
          </p:nvPr>
        </p:nvGraphicFramePr>
        <p:xfrm>
          <a:off x="2495550" y="5041900"/>
          <a:ext cx="19812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981080" imgH="1054080" progId="Equation.DSMT4">
                  <p:embed/>
                </p:oleObj>
              </mc:Choice>
              <mc:Fallback>
                <p:oleObj name="Equation" r:id="rId16" imgW="1981080" imgH="1054080" progId="Equation.DSMT4">
                  <p:embed/>
                  <p:pic>
                    <p:nvPicPr>
                      <p:cNvPr id="21" name="Objeto 13">
                        <a:extLst>
                          <a:ext uri="{FF2B5EF4-FFF2-40B4-BE49-F238E27FC236}">
                            <a16:creationId xmlns:a16="http://schemas.microsoft.com/office/drawing/2014/main" id="{E035A3B1-42FE-CEAE-52DC-15BD636A64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495550" y="5041900"/>
                        <a:ext cx="1981200" cy="1054100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66952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DBC9F-1609-C69F-EE7E-C2CA11A16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AE0CD71-53D3-9EED-F4B0-016CC0FDD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--</a:t>
            </a:r>
          </a:p>
        </p:txBody>
      </p:sp>
      <p:graphicFrame>
        <p:nvGraphicFramePr>
          <p:cNvPr id="27" name="Objeto 10">
            <a:extLst>
              <a:ext uri="{FF2B5EF4-FFF2-40B4-BE49-F238E27FC236}">
                <a16:creationId xmlns:a16="http://schemas.microsoft.com/office/drawing/2014/main" id="{032FAD44-D276-F6A0-EEAD-76F6715B75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4673136"/>
              </p:ext>
            </p:extLst>
          </p:nvPr>
        </p:nvGraphicFramePr>
        <p:xfrm>
          <a:off x="258648" y="1983813"/>
          <a:ext cx="869950" cy="24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60240" imgH="190440" progId="Equation.DSMT4">
                  <p:embed/>
                </p:oleObj>
              </mc:Choice>
              <mc:Fallback>
                <p:oleObj name="Equation" r:id="rId2" imgW="660240" imgH="190440" progId="Equation.DSMT4">
                  <p:embed/>
                  <p:pic>
                    <p:nvPicPr>
                      <p:cNvPr id="27" name="Objeto 10">
                        <a:extLst>
                          <a:ext uri="{FF2B5EF4-FFF2-40B4-BE49-F238E27FC236}">
                            <a16:creationId xmlns:a16="http://schemas.microsoft.com/office/drawing/2014/main" id="{032FAD44-D276-F6A0-EEAD-76F6715B75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8648" y="1983813"/>
                        <a:ext cx="869950" cy="249237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C11B9759-9121-F93A-CF5F-6900B231AF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0907829"/>
              </p:ext>
            </p:extLst>
          </p:nvPr>
        </p:nvGraphicFramePr>
        <p:xfrm>
          <a:off x="258483" y="928008"/>
          <a:ext cx="965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65160" imgH="342720" progId="Equation.DSMT4">
                  <p:embed/>
                </p:oleObj>
              </mc:Choice>
              <mc:Fallback>
                <p:oleObj name="Equation" r:id="rId4" imgW="9651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8483" y="928008"/>
                        <a:ext cx="965200" cy="342900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A3CCC995-5FD7-FD5C-9F11-89D3CAD3E2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1294327"/>
              </p:ext>
            </p:extLst>
          </p:nvPr>
        </p:nvGraphicFramePr>
        <p:xfrm>
          <a:off x="234042" y="3978896"/>
          <a:ext cx="3847972" cy="528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90560" imgH="355320" progId="Equation.DSMT4">
                  <p:embed/>
                </p:oleObj>
              </mc:Choice>
              <mc:Fallback>
                <p:oleObj name="Equation" r:id="rId6" imgW="25905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4042" y="3978896"/>
                        <a:ext cx="3847972" cy="528153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190B181D-D125-3DA3-D56F-92E714BE7F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6525800"/>
              </p:ext>
            </p:extLst>
          </p:nvPr>
        </p:nvGraphicFramePr>
        <p:xfrm>
          <a:off x="212939" y="3147324"/>
          <a:ext cx="3894137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894050" imgH="470897" progId="Equation.DSMT4">
                  <p:embed/>
                </p:oleObj>
              </mc:Choice>
              <mc:Fallback>
                <p:oleObj name="Equation" r:id="rId8" imgW="3894050" imgH="47089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12939" y="3147324"/>
                        <a:ext cx="3894137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to 10">
            <a:extLst>
              <a:ext uri="{FF2B5EF4-FFF2-40B4-BE49-F238E27FC236}">
                <a16:creationId xmlns:a16="http://schemas.microsoft.com/office/drawing/2014/main" id="{6BBC3334-FFFB-D49D-382B-AEADA85952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2141997"/>
              </p:ext>
            </p:extLst>
          </p:nvPr>
        </p:nvGraphicFramePr>
        <p:xfrm>
          <a:off x="3966883" y="876063"/>
          <a:ext cx="919163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98400" imgH="342720" progId="Equation.DSMT4">
                  <p:embed/>
                </p:oleObj>
              </mc:Choice>
              <mc:Fallback>
                <p:oleObj name="Equation" r:id="rId10" imgW="698400" imgH="342720" progId="Equation.DSMT4">
                  <p:embed/>
                  <p:pic>
                    <p:nvPicPr>
                      <p:cNvPr id="4" name="Objeto 10">
                        <a:extLst>
                          <a:ext uri="{FF2B5EF4-FFF2-40B4-BE49-F238E27FC236}">
                            <a16:creationId xmlns:a16="http://schemas.microsoft.com/office/drawing/2014/main" id="{425BE4E2-7D21-D8D3-CA52-03C1DE7F94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966883" y="876063"/>
                        <a:ext cx="919163" cy="450850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B97AAA3A-A605-B787-2207-0D4F17769E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9716415"/>
              </p:ext>
            </p:extLst>
          </p:nvPr>
        </p:nvGraphicFramePr>
        <p:xfrm>
          <a:off x="281502" y="1495691"/>
          <a:ext cx="1485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85720" imgH="342720" progId="Equation.DSMT4">
                  <p:embed/>
                </p:oleObj>
              </mc:Choice>
              <mc:Fallback>
                <p:oleObj name="Equation" r:id="rId12" imgW="1485720" imgH="34272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C11B9759-9121-F93A-CF5F-6900B231AF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81502" y="1495691"/>
                        <a:ext cx="1485900" cy="342900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to 10">
            <a:extLst>
              <a:ext uri="{FF2B5EF4-FFF2-40B4-BE49-F238E27FC236}">
                <a16:creationId xmlns:a16="http://schemas.microsoft.com/office/drawing/2014/main" id="{E20C325D-20F8-B02B-A084-EAB4A1E975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4603170"/>
              </p:ext>
            </p:extLst>
          </p:nvPr>
        </p:nvGraphicFramePr>
        <p:xfrm>
          <a:off x="1874998" y="858601"/>
          <a:ext cx="1520825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55600" imgH="355320" progId="Equation.DSMT4">
                  <p:embed/>
                </p:oleObj>
              </mc:Choice>
              <mc:Fallback>
                <p:oleObj name="Equation" r:id="rId14" imgW="1155600" imgH="355320" progId="Equation.DSMT4">
                  <p:embed/>
                  <p:pic>
                    <p:nvPicPr>
                      <p:cNvPr id="12" name="Objeto 10">
                        <a:extLst>
                          <a:ext uri="{FF2B5EF4-FFF2-40B4-BE49-F238E27FC236}">
                            <a16:creationId xmlns:a16="http://schemas.microsoft.com/office/drawing/2014/main" id="{6BBC3334-FFFB-D49D-382B-AEADA85952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874998" y="858601"/>
                        <a:ext cx="1520825" cy="468312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to 10">
            <a:extLst>
              <a:ext uri="{FF2B5EF4-FFF2-40B4-BE49-F238E27FC236}">
                <a16:creationId xmlns:a16="http://schemas.microsoft.com/office/drawing/2014/main" id="{3FD75DFB-1225-AA81-30C3-61E518FBD8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6971166"/>
              </p:ext>
            </p:extLst>
          </p:nvPr>
        </p:nvGraphicFramePr>
        <p:xfrm>
          <a:off x="234042" y="2420926"/>
          <a:ext cx="952500" cy="24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23600" imgH="190440" progId="Equation.DSMT4">
                  <p:embed/>
                </p:oleObj>
              </mc:Choice>
              <mc:Fallback>
                <p:oleObj name="Equation" r:id="rId16" imgW="723600" imgH="190440" progId="Equation.DSMT4">
                  <p:embed/>
                  <p:pic>
                    <p:nvPicPr>
                      <p:cNvPr id="27" name="Objeto 10">
                        <a:extLst>
                          <a:ext uri="{FF2B5EF4-FFF2-40B4-BE49-F238E27FC236}">
                            <a16:creationId xmlns:a16="http://schemas.microsoft.com/office/drawing/2014/main" id="{032FAD44-D276-F6A0-EEAD-76F6715B75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34042" y="2420926"/>
                        <a:ext cx="952500" cy="249237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8872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EF03F-7ABC-149B-9C56-D309C8746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9CF8876-94FE-0E73-A1FA-E4DA7FC98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--</a:t>
            </a:r>
          </a:p>
        </p:txBody>
      </p:sp>
      <p:sp>
        <p:nvSpPr>
          <p:cNvPr id="2" name="CaixaDeTexto 27">
            <a:extLst>
              <a:ext uri="{FF2B5EF4-FFF2-40B4-BE49-F238E27FC236}">
                <a16:creationId xmlns:a16="http://schemas.microsoft.com/office/drawing/2014/main" id="{D880ABB6-CB7A-3F71-2377-E3DD06DC8A75}"/>
              </a:ext>
            </a:extLst>
          </p:cNvPr>
          <p:cNvSpPr txBox="1"/>
          <p:nvPr/>
        </p:nvSpPr>
        <p:spPr>
          <a:xfrm>
            <a:off x="234042" y="1031791"/>
            <a:ext cx="4387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 the equilibrium</a:t>
            </a:r>
            <a:endParaRPr lang="en-GB" sz="1800" dirty="0"/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373A03DE-5D3C-9DFC-F206-3A5C459F43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498967"/>
              </p:ext>
            </p:extLst>
          </p:nvPr>
        </p:nvGraphicFramePr>
        <p:xfrm>
          <a:off x="303411" y="1580880"/>
          <a:ext cx="1427478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85294" imgH="219232" progId="Equation.DSMT4">
                  <p:embed/>
                </p:oleObj>
              </mc:Choice>
              <mc:Fallback>
                <p:oleObj name="Equation" r:id="rId2" imgW="1085294" imgH="219232" progId="Equation.DSMT4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38248A4A-F738-AC83-06DD-EFC61D8298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3411" y="1580880"/>
                        <a:ext cx="1427478" cy="288000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o 5">
            <a:extLst>
              <a:ext uri="{FF2B5EF4-FFF2-40B4-BE49-F238E27FC236}">
                <a16:creationId xmlns:a16="http://schemas.microsoft.com/office/drawing/2014/main" id="{D77D0E7C-D3C9-3EB0-6257-731046960E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791126"/>
              </p:ext>
            </p:extLst>
          </p:nvPr>
        </p:nvGraphicFramePr>
        <p:xfrm>
          <a:off x="303411" y="2120589"/>
          <a:ext cx="5853113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775040" imgH="355320" progId="Equation.DSMT4">
                  <p:embed/>
                </p:oleObj>
              </mc:Choice>
              <mc:Fallback>
                <p:oleObj name="Equation" r:id="rId4" imgW="4775040" imgH="355320" progId="Equation.DSMT4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1BD9E3BF-0D49-9F99-7A7B-DD0A73A215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3411" y="2120589"/>
                        <a:ext cx="5853113" cy="436563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6">
            <a:extLst>
              <a:ext uri="{FF2B5EF4-FFF2-40B4-BE49-F238E27FC236}">
                <a16:creationId xmlns:a16="http://schemas.microsoft.com/office/drawing/2014/main" id="{4FEBC8B7-8E42-8972-B93D-F3CEF7D2DA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69547"/>
              </p:ext>
            </p:extLst>
          </p:nvPr>
        </p:nvGraphicFramePr>
        <p:xfrm>
          <a:off x="192087" y="2865481"/>
          <a:ext cx="5903913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686120" imgH="342720" progId="Equation.DSMT4">
                  <p:embed/>
                </p:oleObj>
              </mc:Choice>
              <mc:Fallback>
                <p:oleObj name="Equation" r:id="rId6" imgW="4686120" imgH="342720" progId="Equation.DSMT4">
                  <p:embed/>
                  <p:pic>
                    <p:nvPicPr>
                      <p:cNvPr id="7" name="Objeto 6">
                        <a:extLst>
                          <a:ext uri="{FF2B5EF4-FFF2-40B4-BE49-F238E27FC236}">
                            <a16:creationId xmlns:a16="http://schemas.microsoft.com/office/drawing/2014/main" id="{EC3E6A15-5DA4-5B40-3EE6-5116F0FF79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2087" y="2865481"/>
                        <a:ext cx="5903913" cy="433387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to 7">
            <a:extLst>
              <a:ext uri="{FF2B5EF4-FFF2-40B4-BE49-F238E27FC236}">
                <a16:creationId xmlns:a16="http://schemas.microsoft.com/office/drawing/2014/main" id="{C5D95517-F818-803C-A852-68E1C2E130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512470"/>
              </p:ext>
            </p:extLst>
          </p:nvPr>
        </p:nvGraphicFramePr>
        <p:xfrm>
          <a:off x="208757" y="4248606"/>
          <a:ext cx="1763712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07880" imgH="215640" progId="Equation.DSMT4">
                  <p:embed/>
                </p:oleObj>
              </mc:Choice>
              <mc:Fallback>
                <p:oleObj name="Equation" r:id="rId8" imgW="1307880" imgH="215640" progId="Equation.DSMT4">
                  <p:embed/>
                  <p:pic>
                    <p:nvPicPr>
                      <p:cNvPr id="8" name="Objeto 7">
                        <a:extLst>
                          <a:ext uri="{FF2B5EF4-FFF2-40B4-BE49-F238E27FC236}">
                            <a16:creationId xmlns:a16="http://schemas.microsoft.com/office/drawing/2014/main" id="{B357258B-45E2-F3AA-7E30-41D93F99C4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08757" y="4248606"/>
                        <a:ext cx="1763712" cy="290512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o 9">
            <a:extLst>
              <a:ext uri="{FF2B5EF4-FFF2-40B4-BE49-F238E27FC236}">
                <a16:creationId xmlns:a16="http://schemas.microsoft.com/office/drawing/2014/main" id="{94C3CD77-550D-D2BE-1ACE-23A9BEE1AD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5154146"/>
              </p:ext>
            </p:extLst>
          </p:nvPr>
        </p:nvGraphicFramePr>
        <p:xfrm>
          <a:off x="188118" y="3545799"/>
          <a:ext cx="29559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86000" imgH="330120" progId="Equation.DSMT4">
                  <p:embed/>
                </p:oleObj>
              </mc:Choice>
              <mc:Fallback>
                <p:oleObj name="Equation" r:id="rId10" imgW="2286000" imgH="330120" progId="Equation.DSMT4">
                  <p:embed/>
                  <p:pic>
                    <p:nvPicPr>
                      <p:cNvPr id="10" name="Objeto 9">
                        <a:extLst>
                          <a:ext uri="{FF2B5EF4-FFF2-40B4-BE49-F238E27FC236}">
                            <a16:creationId xmlns:a16="http://schemas.microsoft.com/office/drawing/2014/main" id="{80714731-BBCE-60D3-249C-85BA84D376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88118" y="3545799"/>
                        <a:ext cx="2955925" cy="428625"/>
                      </a:xfrm>
                      <a:prstGeom prst="rect">
                        <a:avLst/>
                      </a:prstGeom>
                      <a:solidFill>
                        <a:schemeClr val="accent4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to 7">
            <a:extLst>
              <a:ext uri="{FF2B5EF4-FFF2-40B4-BE49-F238E27FC236}">
                <a16:creationId xmlns:a16="http://schemas.microsoft.com/office/drawing/2014/main" id="{8ACF9681-7470-3309-2437-44F3A1BA6B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1815022"/>
              </p:ext>
            </p:extLst>
          </p:nvPr>
        </p:nvGraphicFramePr>
        <p:xfrm>
          <a:off x="208757" y="4813300"/>
          <a:ext cx="77152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71320" imgH="342720" progId="Equation.DSMT4">
                  <p:embed/>
                </p:oleObj>
              </mc:Choice>
              <mc:Fallback>
                <p:oleObj name="Equation" r:id="rId12" imgW="571320" imgH="342720" progId="Equation.DSMT4">
                  <p:embed/>
                  <p:pic>
                    <p:nvPicPr>
                      <p:cNvPr id="7" name="Objeto 7">
                        <a:extLst>
                          <a:ext uri="{FF2B5EF4-FFF2-40B4-BE49-F238E27FC236}">
                            <a16:creationId xmlns:a16="http://schemas.microsoft.com/office/drawing/2014/main" id="{C5D95517-F818-803C-A852-68E1C2E130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08757" y="4813300"/>
                        <a:ext cx="771525" cy="46355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5E0C13-BF8C-4BFA-B92F-7AD3656F7706}"/>
              </a:ext>
            </a:extLst>
          </p:cNvPr>
          <p:cNvCxnSpPr>
            <a:cxnSpLocks/>
          </p:cNvCxnSpPr>
          <p:nvPr/>
        </p:nvCxnSpPr>
        <p:spPr>
          <a:xfrm flipV="1">
            <a:off x="1454331" y="2055223"/>
            <a:ext cx="1175658" cy="19855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8519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3A20F-2DC9-B1DC-1942-4EA2B3B92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F89CBF8-0B93-69AF-E387-F42023322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--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73EAF6-579B-F13C-C6CE-A676D1CAB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2774" y="1490468"/>
            <a:ext cx="5806452" cy="387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714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4263</TotalTime>
  <Words>33</Words>
  <Application>Microsoft Office PowerPoint</Application>
  <PresentationFormat>Widescreen</PresentationFormat>
  <Paragraphs>11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Tema do Office</vt:lpstr>
      <vt:lpstr>Slide do think-cell</vt:lpstr>
      <vt:lpstr>MathType 7.0 Equation</vt:lpstr>
      <vt:lpstr>Equation</vt:lpstr>
      <vt:lpstr>Ritz for Cylinders  Under External Pressure</vt:lpstr>
      <vt:lpstr>--</vt:lpstr>
      <vt:lpstr>--</vt:lpstr>
      <vt:lpstr>--</vt:lpstr>
      <vt:lpstr>--</vt:lpstr>
      <vt:lpstr>--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Ritz for Cylinders</dc:title>
  <dc:creator>Plínio Santos</dc:creator>
  <cp:lastModifiedBy>Plínio Santos</cp:lastModifiedBy>
  <cp:revision>52</cp:revision>
  <dcterms:created xsi:type="dcterms:W3CDTF">2022-05-29T23:40:24Z</dcterms:created>
  <dcterms:modified xsi:type="dcterms:W3CDTF">2026-08-28T01:32:31Z</dcterms:modified>
</cp:coreProperties>
</file>