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82" r:id="rId3"/>
    <p:sldId id="378" r:id="rId4"/>
    <p:sldId id="379" r:id="rId5"/>
    <p:sldId id="380" r:id="rId6"/>
    <p:sldId id="381" r:id="rId7"/>
    <p:sldId id="383" r:id="rId8"/>
    <p:sldId id="3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1A7B3-3469-D3F0-10FC-51D4EFC2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F8970-3171-50C3-EF83-4D94B03B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7FEEB-D1B5-6721-9781-1FBFC50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6EBB2-A1D0-426E-5643-4115101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36567-45F3-A2D6-8071-849874BE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2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B2065-E6B5-E4A4-DFA3-ED52F1A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19DB9-C6F0-324B-845D-1ADC062E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AB1A77-6C00-AFD7-8672-FA6A5F5D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A91A4-3D85-0A46-8674-82954FCC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C1FE3-789F-CDAA-57DF-3D3F6FE7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3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568ED-03DD-E1D6-8924-C9A5B35D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3B5EA5-5A3C-992C-F4C0-31F315A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9BF3B-7B6B-AD68-4D01-83ABBB9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442C4-820B-1EEB-9DD1-038EDEA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2CBA63-BF74-41B7-60E3-2A00200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2D37-B429-B31A-CCC7-407E19B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C36EC-8FA8-EE66-BB96-CB9864333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BB9739-15F4-939A-4D3B-92C9286E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E03A7-99EE-AEBD-7FDA-04C6B31D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E8CE9-7ED0-0E4F-DE71-50B8FA67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6F182F-7F0C-8F92-4DAE-AE6A66B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A0F8D-6514-91FC-2C79-4B8E545E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28F935-8A8F-82C1-24FF-B817ED41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A4E60D-6A2C-E47B-2A72-17F7B5703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892E77-F04D-7394-3EF6-CE2CB63D1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9B71B-B117-5416-9577-4E6FD2AFB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EA4F8F-5EAD-4318-C7E3-543685D1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BB908A-25DB-764A-A3CA-DC0CC68D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8C9D8D-9806-BDA6-68C8-3F23A9BE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90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96010-B196-1B3A-5E4F-D4A76511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3EBE2-042C-7175-FDC5-F0044E75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C536D1-4222-FE9E-A146-24BD3B9E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FE578A-E8F1-E03A-3356-ECC768B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0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B463B4-9AA8-93AC-8993-A406AD5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B7C251-82BE-38F7-798F-5267DE1B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425F3B-CDE3-9439-6072-3FDD2AE5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50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E8A4E-1C01-E7E2-B498-A205536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8633E-6F36-61AB-3907-F5255BBAA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41D90-5C69-F3A3-F2BB-93C8E1C4D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D7CD05-D76D-346C-133E-5149C81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D21B41-E63B-715F-A3BB-77A8D1B4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C254A1-D345-38B1-662B-CFF120DF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08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980F4-DD5A-0778-A856-F2F20C0E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7A931-96C4-1D16-3D20-4E9B774E9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9CA44A-4362-074B-08DA-81673B0FE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DEDD40-8BFA-5F16-543F-6B3F25E1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E45253-721D-691C-3C02-CA5C1075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BDF70B-6946-A800-2F39-ED9F6427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B0F33-5EF9-42A2-5641-3B6493CE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245644-F6DE-5619-D6D6-FA489FD2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5B5FA-59B5-4DB2-9F7E-57CC307A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D8624-5133-BD8A-AC3C-2FCCE555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8EBA0-07A5-0605-8BB0-32B3C56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9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F9C305-69E1-552A-3073-DE7DE14BC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3C0B3D-B91E-777D-E2E7-82A31A7C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C24AB-20F2-1539-DC39-B7E73DD1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7C5E2-39CB-A163-7123-78B62D1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7E3F3-94A1-D8BF-A7B3-3212BE4A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50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Espaço Reservado para Texto 2"/>
          <p:cNvSpPr>
            <a:spLocks noGrp="1"/>
          </p:cNvSpPr>
          <p:nvPr>
            <p:ph idx="1"/>
          </p:nvPr>
        </p:nvSpPr>
        <p:spPr>
          <a:xfrm>
            <a:off x="312419" y="879527"/>
            <a:ext cx="11567160" cy="4644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54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72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90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08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pt-BR" noProof="0" dirty="0"/>
              <a:t>Clique para editar os estilos do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17" name="Título 1"/>
          <p:cNvSpPr>
            <a:spLocks noGrp="1"/>
          </p:cNvSpPr>
          <p:nvPr>
            <p:ph type="title" hasCustomPrompt="1"/>
          </p:nvPr>
        </p:nvSpPr>
        <p:spPr>
          <a:xfrm>
            <a:off x="234042" y="255200"/>
            <a:ext cx="11567160" cy="504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lang="pt-BR" sz="28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cxnSp>
        <p:nvCxnSpPr>
          <p:cNvPr id="18" name="Conector reto 17"/>
          <p:cNvCxnSpPr/>
          <p:nvPr userDrawn="1"/>
        </p:nvCxnSpPr>
        <p:spPr>
          <a:xfrm>
            <a:off x="312420" y="707685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Quase 8 mil estudantes iniciam maratona do vestibular do ITA | ITA">
            <a:extLst>
              <a:ext uri="{FF2B5EF4-FFF2-40B4-BE49-F238E27FC236}">
                <a16:creationId xmlns:a16="http://schemas.microsoft.com/office/drawing/2014/main" id="{2B34FBE7-13F4-4EF5-9A53-4AFA0B1B0C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274" y="114107"/>
            <a:ext cx="1477184" cy="56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NCA desenvolve projeto de acústica de motores a jato | ITA">
            <a:extLst>
              <a:ext uri="{FF2B5EF4-FFF2-40B4-BE49-F238E27FC236}">
                <a16:creationId xmlns:a16="http://schemas.microsoft.com/office/drawing/2014/main" id="{8C6F0130-683D-4691-858F-17B8CB5ED6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185" y="161792"/>
            <a:ext cx="1805394" cy="49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F54BC8D-6905-410E-B10E-5066621D869E}"/>
              </a:ext>
            </a:extLst>
          </p:cNvPr>
          <p:cNvCxnSpPr/>
          <p:nvPr userDrawn="1"/>
        </p:nvCxnSpPr>
        <p:spPr>
          <a:xfrm>
            <a:off x="308064" y="6437937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4C136F-D594-4ED1-AA57-690D475C4DF9}"/>
              </a:ext>
            </a:extLst>
          </p:cNvPr>
          <p:cNvSpPr txBox="1"/>
          <p:nvPr userDrawn="1"/>
        </p:nvSpPr>
        <p:spPr>
          <a:xfrm>
            <a:off x="229686" y="6468600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Plínio Ricardo dos Santos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B32AE1-DF9B-4B57-43D1-F8C8D4ED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CB15D-C9E0-1A33-1F9D-1FFFA48DF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3E57BB-750E-7AE2-81A1-B6306F1FD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24F1F-5A52-41E3-8A01-608E7A2E0B1F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FA500-776F-D7F3-9CEE-9A59FD57F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C445F-B0CA-9F4A-8900-B722AB243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25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6.wmf"/><Relationship Id="rId3" Type="http://schemas.openxmlformats.org/officeDocument/2006/relationships/image" Target="../media/image21.e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13128-864E-495E-967E-7C5C1FF2C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057" y="2073708"/>
            <a:ext cx="11146971" cy="1079009"/>
          </a:xfrm>
        </p:spPr>
        <p:txBody>
          <a:bodyPr>
            <a:noAutofit/>
          </a:bodyPr>
          <a:lstStyle/>
          <a:p>
            <a:r>
              <a:rPr lang="en-GB" sz="4400" dirty="0"/>
              <a:t>Buckling Method for Composite Cylinders </a:t>
            </a:r>
            <a:br>
              <a:rPr lang="en-GB" sz="4400" dirty="0"/>
            </a:br>
            <a:r>
              <a:rPr lang="en-GB" sz="4400" dirty="0"/>
              <a:t>Under Axial Loading and External Pressure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74479-E07B-4B57-B586-EE705534B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303" y="4179958"/>
            <a:ext cx="9144000" cy="1099770"/>
          </a:xfrm>
        </p:spPr>
        <p:txBody>
          <a:bodyPr/>
          <a:lstStyle/>
          <a:p>
            <a:r>
              <a:rPr lang="en-GB" dirty="0"/>
              <a:t>Plínio R. Santos</a:t>
            </a:r>
          </a:p>
        </p:txBody>
      </p:sp>
    </p:spTree>
    <p:extLst>
      <p:ext uri="{BB962C8B-B14F-4D97-AF65-F5344CB8AC3E}">
        <p14:creationId xmlns:p14="http://schemas.microsoft.com/office/powerpoint/2010/main" val="79503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114A-1A07-0282-9309-7964F151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60343A-8606-3A26-97B5-6FEE323B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Load</a:t>
            </a:r>
            <a:r>
              <a:rPr lang="pt-BR" dirty="0"/>
              <a:t> Case</a:t>
            </a:r>
          </a:p>
        </p:txBody>
      </p:sp>
      <p:graphicFrame>
        <p:nvGraphicFramePr>
          <p:cNvPr id="26" name="Objeto 10">
            <a:extLst>
              <a:ext uri="{FF2B5EF4-FFF2-40B4-BE49-F238E27FC236}">
                <a16:creationId xmlns:a16="http://schemas.microsoft.com/office/drawing/2014/main" id="{FD543258-8270-B6DC-4ED8-C6992C74B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464803"/>
              </p:ext>
            </p:extLst>
          </p:nvPr>
        </p:nvGraphicFramePr>
        <p:xfrm>
          <a:off x="234042" y="1150424"/>
          <a:ext cx="8016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342720" progId="Equation.DSMT4">
                  <p:embed/>
                </p:oleObj>
              </mc:Choice>
              <mc:Fallback>
                <p:oleObj name="Equation" r:id="rId2" imgW="609480" imgH="342720" progId="Equation.DSMT4">
                  <p:embed/>
                  <p:pic>
                    <p:nvPicPr>
                      <p:cNvPr id="26" name="Objeto 10">
                        <a:extLst>
                          <a:ext uri="{FF2B5EF4-FFF2-40B4-BE49-F238E27FC236}">
                            <a16:creationId xmlns:a16="http://schemas.microsoft.com/office/drawing/2014/main" id="{74951D3F-EA70-0E45-A7B7-F0D6763D6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4042" y="1150424"/>
                        <a:ext cx="801688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F7260CA3-90EE-ED29-7764-A4B9242A6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654581"/>
              </p:ext>
            </p:extLst>
          </p:nvPr>
        </p:nvGraphicFramePr>
        <p:xfrm>
          <a:off x="234042" y="1903870"/>
          <a:ext cx="86995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190440" progId="Equation.DSMT4">
                  <p:embed/>
                </p:oleObj>
              </mc:Choice>
              <mc:Fallback>
                <p:oleObj name="Equation" r:id="rId4" imgW="660240" imgH="19044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042" y="1903870"/>
                        <a:ext cx="869950" cy="24923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15002911-E9F3-219B-D19A-E06355649602}"/>
              </a:ext>
            </a:extLst>
          </p:cNvPr>
          <p:cNvSpPr/>
          <p:nvPr/>
        </p:nvSpPr>
        <p:spPr>
          <a:xfrm>
            <a:off x="4780230" y="1991762"/>
            <a:ext cx="774071" cy="12765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7D8651-1E6F-DBE3-4E80-170BAA45B11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5167266" y="1815978"/>
            <a:ext cx="3198136" cy="175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5E6E25-76B4-477A-8B56-48992C163F6A}"/>
              </a:ext>
            </a:extLst>
          </p:cNvPr>
          <p:cNvCxnSpPr/>
          <p:nvPr/>
        </p:nvCxnSpPr>
        <p:spPr>
          <a:xfrm flipV="1">
            <a:off x="5191410" y="3093070"/>
            <a:ext cx="2892582" cy="175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0777A-1A6F-2A4D-E238-35F7A2509076}"/>
              </a:ext>
            </a:extLst>
          </p:cNvPr>
          <p:cNvCxnSpPr>
            <a:cxnSpLocks/>
          </p:cNvCxnSpPr>
          <p:nvPr/>
        </p:nvCxnSpPr>
        <p:spPr>
          <a:xfrm flipV="1">
            <a:off x="4206850" y="2630031"/>
            <a:ext cx="944136" cy="3104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5275C8-BD30-4A6F-0FAA-E177097C7F7A}"/>
              </a:ext>
            </a:extLst>
          </p:cNvPr>
          <p:cNvCxnSpPr>
            <a:cxnSpLocks/>
          </p:cNvCxnSpPr>
          <p:nvPr/>
        </p:nvCxnSpPr>
        <p:spPr>
          <a:xfrm>
            <a:off x="6096000" y="1369135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6D205-822E-CC30-5D6B-80127885A55F}"/>
              </a:ext>
            </a:extLst>
          </p:cNvPr>
          <p:cNvCxnSpPr>
            <a:cxnSpLocks/>
          </p:cNvCxnSpPr>
          <p:nvPr/>
        </p:nvCxnSpPr>
        <p:spPr>
          <a:xfrm>
            <a:off x="6719712" y="1334735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1EEB41-CCAB-00F7-83B7-EAF0FD0F94AD}"/>
              </a:ext>
            </a:extLst>
          </p:cNvPr>
          <p:cNvCxnSpPr>
            <a:cxnSpLocks/>
          </p:cNvCxnSpPr>
          <p:nvPr/>
        </p:nvCxnSpPr>
        <p:spPr>
          <a:xfrm>
            <a:off x="7453789" y="1334735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311FA3-2038-0FCE-7CF4-20EB6A0A561A}"/>
              </a:ext>
            </a:extLst>
          </p:cNvPr>
          <p:cNvCxnSpPr>
            <a:cxnSpLocks/>
          </p:cNvCxnSpPr>
          <p:nvPr/>
        </p:nvCxnSpPr>
        <p:spPr>
          <a:xfrm flipH="1" flipV="1">
            <a:off x="6675526" y="2589140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141991-BB44-F8E4-073B-CF396FED6E13}"/>
              </a:ext>
            </a:extLst>
          </p:cNvPr>
          <p:cNvCxnSpPr>
            <a:cxnSpLocks/>
          </p:cNvCxnSpPr>
          <p:nvPr/>
        </p:nvCxnSpPr>
        <p:spPr>
          <a:xfrm flipH="1" flipV="1">
            <a:off x="7453789" y="2528833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724D4-818F-CBCB-FA60-4741F1317486}"/>
              </a:ext>
            </a:extLst>
          </p:cNvPr>
          <p:cNvCxnSpPr>
            <a:cxnSpLocks/>
          </p:cNvCxnSpPr>
          <p:nvPr/>
        </p:nvCxnSpPr>
        <p:spPr>
          <a:xfrm flipH="1" flipV="1">
            <a:off x="7975302" y="2408219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2A1A49-23F0-BDC3-3FF7-472FB4CC5FDD}"/>
              </a:ext>
            </a:extLst>
          </p:cNvPr>
          <p:cNvCxnSpPr>
            <a:cxnSpLocks/>
          </p:cNvCxnSpPr>
          <p:nvPr/>
        </p:nvCxnSpPr>
        <p:spPr>
          <a:xfrm flipV="1">
            <a:off x="5519466" y="3341914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E8628-6348-CE95-E24E-D0F68420AEF8}"/>
              </a:ext>
            </a:extLst>
          </p:cNvPr>
          <p:cNvCxnSpPr>
            <a:cxnSpLocks/>
          </p:cNvCxnSpPr>
          <p:nvPr/>
        </p:nvCxnSpPr>
        <p:spPr>
          <a:xfrm flipV="1">
            <a:off x="7180724" y="3268301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AFAEA6-6D3A-D691-A9E7-EEB5DF4793BF}"/>
              </a:ext>
            </a:extLst>
          </p:cNvPr>
          <p:cNvCxnSpPr>
            <a:cxnSpLocks/>
          </p:cNvCxnSpPr>
          <p:nvPr/>
        </p:nvCxnSpPr>
        <p:spPr>
          <a:xfrm flipV="1">
            <a:off x="7903455" y="3268301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E2DCB2-4F9F-8FFE-D0D5-5E0B1A70F4AE}"/>
              </a:ext>
            </a:extLst>
          </p:cNvPr>
          <p:cNvCxnSpPr>
            <a:cxnSpLocks/>
          </p:cNvCxnSpPr>
          <p:nvPr/>
        </p:nvCxnSpPr>
        <p:spPr>
          <a:xfrm flipV="1">
            <a:off x="6277331" y="3341914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E45435-CBDB-8125-DBE0-EEDEBE2BC1BD}"/>
              </a:ext>
            </a:extLst>
          </p:cNvPr>
          <p:cNvCxnSpPr>
            <a:cxnSpLocks/>
          </p:cNvCxnSpPr>
          <p:nvPr/>
        </p:nvCxnSpPr>
        <p:spPr>
          <a:xfrm flipH="1" flipV="1">
            <a:off x="6008913" y="2661073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14A339-298F-7F21-CAB2-76CDD05896C4}"/>
              </a:ext>
            </a:extLst>
          </p:cNvPr>
          <p:cNvCxnSpPr>
            <a:cxnSpLocks/>
          </p:cNvCxnSpPr>
          <p:nvPr/>
        </p:nvCxnSpPr>
        <p:spPr>
          <a:xfrm>
            <a:off x="5401987" y="1407831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E9CC98B-2648-2D69-27A4-0AFCAAFD4983}"/>
              </a:ext>
            </a:extLst>
          </p:cNvPr>
          <p:cNvSpPr txBox="1"/>
          <p:nvPr/>
        </p:nvSpPr>
        <p:spPr>
          <a:xfrm>
            <a:off x="3840480" y="233389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A1AEE-D370-6DCA-7B70-11618688007F}"/>
              </a:ext>
            </a:extLst>
          </p:cNvPr>
          <p:cNvSpPr txBox="1"/>
          <p:nvPr/>
        </p:nvSpPr>
        <p:spPr>
          <a:xfrm>
            <a:off x="6568068" y="95447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56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Formulation</a:t>
            </a:r>
            <a:endParaRPr lang="pt-BR" dirty="0"/>
          </a:p>
        </p:txBody>
      </p:sp>
      <p:sp>
        <p:nvSpPr>
          <p:cNvPr id="11" name="CaixaDeTexto 27">
            <a:extLst>
              <a:ext uri="{FF2B5EF4-FFF2-40B4-BE49-F238E27FC236}">
                <a16:creationId xmlns:a16="http://schemas.microsoft.com/office/drawing/2014/main" id="{0400230B-CCD6-E7EA-DFBF-F01B1D63E222}"/>
              </a:ext>
            </a:extLst>
          </p:cNvPr>
          <p:cNvSpPr txBox="1"/>
          <p:nvPr/>
        </p:nvSpPr>
        <p:spPr>
          <a:xfrm>
            <a:off x="184437" y="1693590"/>
            <a:ext cx="544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otential of the external load</a:t>
            </a:r>
            <a:endParaRPr lang="pt-BR" dirty="0"/>
          </a:p>
        </p:txBody>
      </p:sp>
      <p:sp>
        <p:nvSpPr>
          <p:cNvPr id="13" name="CaixaDeTexto 28">
            <a:extLst>
              <a:ext uri="{FF2B5EF4-FFF2-40B4-BE49-F238E27FC236}">
                <a16:creationId xmlns:a16="http://schemas.microsoft.com/office/drawing/2014/main" id="{39AD59E5-7073-9F39-23D4-F855E3F5E079}"/>
              </a:ext>
            </a:extLst>
          </p:cNvPr>
          <p:cNvSpPr txBox="1"/>
          <p:nvPr/>
        </p:nvSpPr>
        <p:spPr>
          <a:xfrm>
            <a:off x="160813" y="1192735"/>
            <a:ext cx="560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</a:rPr>
              <a:t>Ritz Method for </a:t>
            </a:r>
            <a:r>
              <a:rPr lang="en-US" sz="1800" b="1" dirty="0">
                <a:solidFill>
                  <a:srgbClr val="7030A0"/>
                </a:solidFill>
                <a:effectLst/>
              </a:rPr>
              <a:t>Stability Analysis </a:t>
            </a:r>
            <a:r>
              <a:rPr lang="en-US" sz="1800" b="1" dirty="0">
                <a:effectLst/>
              </a:rPr>
              <a:t>of Composite Cylinders</a:t>
            </a:r>
            <a:endParaRPr lang="pt-BR" dirty="0"/>
          </a:p>
        </p:txBody>
      </p:sp>
      <p:graphicFrame>
        <p:nvGraphicFramePr>
          <p:cNvPr id="14" name="Objeto 4">
            <a:extLst>
              <a:ext uri="{FF2B5EF4-FFF2-40B4-BE49-F238E27FC236}">
                <a16:creationId xmlns:a16="http://schemas.microsoft.com/office/drawing/2014/main" id="{2F62A532-04EB-DA2A-4B92-404B6EF0B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658711"/>
              </p:ext>
            </p:extLst>
          </p:nvPr>
        </p:nvGraphicFramePr>
        <p:xfrm>
          <a:off x="234042" y="2255309"/>
          <a:ext cx="24860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360" imgH="406080" progId="Equation.DSMT4">
                  <p:embed/>
                </p:oleObj>
              </mc:Choice>
              <mc:Fallback>
                <p:oleObj name="Equation" r:id="rId2" imgW="2133360" imgH="40608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27AA696D-F1B5-79FC-5175-DBA464B72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4042" y="2255309"/>
                        <a:ext cx="2486025" cy="47307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0">
            <a:extLst>
              <a:ext uri="{FF2B5EF4-FFF2-40B4-BE49-F238E27FC236}">
                <a16:creationId xmlns:a16="http://schemas.microsoft.com/office/drawing/2014/main" id="{4971EEDE-94D9-4C00-E4CB-8C4DA5EA0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16407"/>
              </p:ext>
            </p:extLst>
          </p:nvPr>
        </p:nvGraphicFramePr>
        <p:xfrm>
          <a:off x="4203055" y="2290254"/>
          <a:ext cx="1287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355320" progId="Equation.DSMT4">
                  <p:embed/>
                </p:oleObj>
              </mc:Choice>
              <mc:Fallback>
                <p:oleObj name="Equation" r:id="rId4" imgW="977760" imgH="35532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57507DCF-7537-F0F5-37BE-8F55A8264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3055" y="2290254"/>
                        <a:ext cx="1287000" cy="46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1">
            <a:extLst>
              <a:ext uri="{FF2B5EF4-FFF2-40B4-BE49-F238E27FC236}">
                <a16:creationId xmlns:a16="http://schemas.microsoft.com/office/drawing/2014/main" id="{CBD1DEFB-29D5-FD0F-351C-3E28AAB7E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818308"/>
              </p:ext>
            </p:extLst>
          </p:nvPr>
        </p:nvGraphicFramePr>
        <p:xfrm>
          <a:off x="138113" y="2979738"/>
          <a:ext cx="9753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53480" imgH="1143000" progId="Equation.DSMT4">
                  <p:embed/>
                </p:oleObj>
              </mc:Choice>
              <mc:Fallback>
                <p:oleObj name="Equation" r:id="rId6" imgW="9753480" imgH="1143000" progId="Equation.DSMT4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F905E838-9793-A475-FA1F-F67F7F798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113" y="2979738"/>
                        <a:ext cx="9753600" cy="1143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2">
            <a:extLst>
              <a:ext uri="{FF2B5EF4-FFF2-40B4-BE49-F238E27FC236}">
                <a16:creationId xmlns:a16="http://schemas.microsoft.com/office/drawing/2014/main" id="{BFFF8A76-96EC-5A9B-DBFC-9F500901E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543580"/>
              </p:ext>
            </p:extLst>
          </p:nvPr>
        </p:nvGraphicFramePr>
        <p:xfrm>
          <a:off x="115888" y="4308475"/>
          <a:ext cx="4991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59120" imgH="368280" progId="Equation.DSMT4">
                  <p:embed/>
                </p:oleObj>
              </mc:Choice>
              <mc:Fallback>
                <p:oleObj name="Equation" r:id="rId8" imgW="3759120" imgH="368280" progId="Equation.DSMT4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2B732A7D-FF7E-7BCC-DDC8-61D36A7E6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5888" y="4308475"/>
                        <a:ext cx="4991100" cy="4889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13">
            <a:extLst>
              <a:ext uri="{FF2B5EF4-FFF2-40B4-BE49-F238E27FC236}">
                <a16:creationId xmlns:a16="http://schemas.microsoft.com/office/drawing/2014/main" id="{E035A3B1-42FE-CEAE-52DC-15BD636A6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697752"/>
              </p:ext>
            </p:extLst>
          </p:nvPr>
        </p:nvGraphicFramePr>
        <p:xfrm>
          <a:off x="250825" y="5041900"/>
          <a:ext cx="1968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1054080" progId="Equation.DSMT4">
                  <p:embed/>
                </p:oleObj>
              </mc:Choice>
              <mc:Fallback>
                <p:oleObj name="Equation" r:id="rId10" imgW="1968480" imgH="1054080" progId="Equation.DSMT4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D150D828-E6B3-6AA1-1B0E-BA49CE5C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825" y="5041900"/>
                        <a:ext cx="19685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ector de Seta Reta 5">
            <a:extLst>
              <a:ext uri="{FF2B5EF4-FFF2-40B4-BE49-F238E27FC236}">
                <a16:creationId xmlns:a16="http://schemas.microsoft.com/office/drawing/2014/main" id="{8BC9B9AB-F6F3-F5BE-E4E2-C90556CDA0A8}"/>
              </a:ext>
            </a:extLst>
          </p:cNvPr>
          <p:cNvCxnSpPr>
            <a:cxnSpLocks/>
          </p:cNvCxnSpPr>
          <p:nvPr/>
        </p:nvCxnSpPr>
        <p:spPr>
          <a:xfrm>
            <a:off x="3538538" y="2509782"/>
            <a:ext cx="4240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to 10">
            <a:extLst>
              <a:ext uri="{FF2B5EF4-FFF2-40B4-BE49-F238E27FC236}">
                <a16:creationId xmlns:a16="http://schemas.microsoft.com/office/drawing/2014/main" id="{39A6ED35-74D4-AC65-EF7C-E3899472F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07838"/>
              </p:ext>
            </p:extLst>
          </p:nvPr>
        </p:nvGraphicFramePr>
        <p:xfrm>
          <a:off x="6010275" y="2290763"/>
          <a:ext cx="13033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55320" progId="Equation.DSMT4">
                  <p:embed/>
                </p:oleObj>
              </mc:Choice>
              <mc:Fallback>
                <p:oleObj name="Equation" r:id="rId12" imgW="990360" imgH="355320" progId="Equation.DSMT4">
                  <p:embed/>
                  <p:pic>
                    <p:nvPicPr>
                      <p:cNvPr id="17" name="Objeto 10">
                        <a:extLst>
                          <a:ext uri="{FF2B5EF4-FFF2-40B4-BE49-F238E27FC236}">
                            <a16:creationId xmlns:a16="http://schemas.microsoft.com/office/drawing/2014/main" id="{4971EEDE-94D9-4C00-E4CB-8C4DA5EA0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0275" y="2290763"/>
                        <a:ext cx="1303338" cy="4667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12">
            <a:extLst>
              <a:ext uri="{FF2B5EF4-FFF2-40B4-BE49-F238E27FC236}">
                <a16:creationId xmlns:a16="http://schemas.microsoft.com/office/drawing/2014/main" id="{B49DE047-39A3-0570-91E6-B7A4FB56F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795743"/>
              </p:ext>
            </p:extLst>
          </p:nvPr>
        </p:nvGraphicFramePr>
        <p:xfrm>
          <a:off x="5105400" y="4291013"/>
          <a:ext cx="41973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62240" imgH="393480" progId="Equation.DSMT4">
                  <p:embed/>
                </p:oleObj>
              </mc:Choice>
              <mc:Fallback>
                <p:oleObj name="Equation" r:id="rId14" imgW="3162240" imgH="393480" progId="Equation.DSMT4">
                  <p:embed/>
                  <p:pic>
                    <p:nvPicPr>
                      <p:cNvPr id="20" name="Objeto 12">
                        <a:extLst>
                          <a:ext uri="{FF2B5EF4-FFF2-40B4-BE49-F238E27FC236}">
                            <a16:creationId xmlns:a16="http://schemas.microsoft.com/office/drawing/2014/main" id="{BFFF8A76-96EC-5A9B-DBFC-9F500901E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05400" y="4291013"/>
                        <a:ext cx="4197350" cy="5222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13">
            <a:extLst>
              <a:ext uri="{FF2B5EF4-FFF2-40B4-BE49-F238E27FC236}">
                <a16:creationId xmlns:a16="http://schemas.microsoft.com/office/drawing/2014/main" id="{D2A3955B-87AF-1852-3A2B-BF55E45D0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20062"/>
              </p:ext>
            </p:extLst>
          </p:nvPr>
        </p:nvGraphicFramePr>
        <p:xfrm>
          <a:off x="2495550" y="5041900"/>
          <a:ext cx="1981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1054080" progId="Equation.DSMT4">
                  <p:embed/>
                </p:oleObj>
              </mc:Choice>
              <mc:Fallback>
                <p:oleObj name="Equation" r:id="rId16" imgW="1981080" imgH="1054080" progId="Equation.DSMT4">
                  <p:embed/>
                  <p:pic>
                    <p:nvPicPr>
                      <p:cNvPr id="21" name="Objeto 13">
                        <a:extLst>
                          <a:ext uri="{FF2B5EF4-FFF2-40B4-BE49-F238E27FC236}">
                            <a16:creationId xmlns:a16="http://schemas.microsoft.com/office/drawing/2014/main" id="{E035A3B1-42FE-CEAE-52DC-15BD636A6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95550" y="5041900"/>
                        <a:ext cx="19812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95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BC9F-1609-C69F-EE7E-C2CA11A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AE0CD71-53D3-9EED-F4B0-016CC0FD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032FAD44-D276-F6A0-EEAD-76F6715B7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98428"/>
              </p:ext>
            </p:extLst>
          </p:nvPr>
        </p:nvGraphicFramePr>
        <p:xfrm>
          <a:off x="311376" y="1454983"/>
          <a:ext cx="86995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190440" progId="Equation.DSMT4">
                  <p:embed/>
                </p:oleObj>
              </mc:Choice>
              <mc:Fallback>
                <p:oleObj name="Equation" r:id="rId2" imgW="660240" imgH="19044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1376" y="1454983"/>
                        <a:ext cx="869950" cy="24923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11B9759-9121-F93A-CF5F-6900B231A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433230"/>
              </p:ext>
            </p:extLst>
          </p:nvPr>
        </p:nvGraphicFramePr>
        <p:xfrm>
          <a:off x="311376" y="893852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342720" progId="Equation.DSMT4">
                  <p:embed/>
                </p:oleObj>
              </mc:Choice>
              <mc:Fallback>
                <p:oleObj name="Equation" r:id="rId4" imgW="685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1376" y="893852"/>
                        <a:ext cx="685800" cy="342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3CCC995-5FD7-FD5C-9F11-89D3CAD3E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946918"/>
              </p:ext>
            </p:extLst>
          </p:nvPr>
        </p:nvGraphicFramePr>
        <p:xfrm>
          <a:off x="149225" y="3379788"/>
          <a:ext cx="42830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880" imgH="393480" progId="Equation.DSMT4">
                  <p:embed/>
                </p:oleObj>
              </mc:Choice>
              <mc:Fallback>
                <p:oleObj name="Equation" r:id="rId6" imgW="2882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9225" y="3379788"/>
                        <a:ext cx="4283075" cy="5857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90B181D-D125-3DA3-D56F-92E714BE7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11498"/>
              </p:ext>
            </p:extLst>
          </p:nvPr>
        </p:nvGraphicFramePr>
        <p:xfrm>
          <a:off x="258648" y="2667090"/>
          <a:ext cx="316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62240" imgH="393480" progId="Equation.DSMT4">
                  <p:embed/>
                </p:oleObj>
              </mc:Choice>
              <mc:Fallback>
                <p:oleObj name="Equation" r:id="rId8" imgW="31622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8648" y="2667090"/>
                        <a:ext cx="3162300" cy="3937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0">
            <a:extLst>
              <a:ext uri="{FF2B5EF4-FFF2-40B4-BE49-F238E27FC236}">
                <a16:creationId xmlns:a16="http://schemas.microsoft.com/office/drawing/2014/main" id="{6BBC3334-FFFB-D49D-382B-AEADA8595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738706"/>
              </p:ext>
            </p:extLst>
          </p:nvPr>
        </p:nvGraphicFramePr>
        <p:xfrm>
          <a:off x="2557463" y="5789613"/>
          <a:ext cx="9017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800" imgH="342720" progId="Equation.DSMT4">
                  <p:embed/>
                </p:oleObj>
              </mc:Choice>
              <mc:Fallback>
                <p:oleObj name="Equation" r:id="rId10" imgW="685800" imgH="342720" progId="Equation.DSMT4">
                  <p:embed/>
                  <p:pic>
                    <p:nvPicPr>
                      <p:cNvPr id="4" name="Objeto 10">
                        <a:extLst>
                          <a:ext uri="{FF2B5EF4-FFF2-40B4-BE49-F238E27FC236}">
                            <a16:creationId xmlns:a16="http://schemas.microsoft.com/office/drawing/2014/main" id="{425BE4E2-7D21-D8D3-CA52-03C1DE7F94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57463" y="5789613"/>
                        <a:ext cx="901700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0">
            <a:extLst>
              <a:ext uri="{FF2B5EF4-FFF2-40B4-BE49-F238E27FC236}">
                <a16:creationId xmlns:a16="http://schemas.microsoft.com/office/drawing/2014/main" id="{E20C325D-20F8-B02B-A084-EAB4A1E97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408198"/>
              </p:ext>
            </p:extLst>
          </p:nvPr>
        </p:nvGraphicFramePr>
        <p:xfrm>
          <a:off x="668338" y="5772150"/>
          <a:ext cx="15716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93760" imgH="355320" progId="Equation.DSMT4">
                  <p:embed/>
                </p:oleObj>
              </mc:Choice>
              <mc:Fallback>
                <p:oleObj name="Equation" r:id="rId12" imgW="1193760" imgH="355320" progId="Equation.DSMT4">
                  <p:embed/>
                  <p:pic>
                    <p:nvPicPr>
                      <p:cNvPr id="12" name="Objeto 10">
                        <a:extLst>
                          <a:ext uri="{FF2B5EF4-FFF2-40B4-BE49-F238E27FC236}">
                            <a16:creationId xmlns:a16="http://schemas.microsoft.com/office/drawing/2014/main" id="{6BBC3334-FFFB-D49D-382B-AEADA8595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8338" y="5772150"/>
                        <a:ext cx="1571625" cy="468313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5D6286-2EC8-59C2-1FDA-0E3F4E8ED139}"/>
              </a:ext>
            </a:extLst>
          </p:cNvPr>
          <p:cNvSpPr txBox="1"/>
          <p:nvPr/>
        </p:nvSpPr>
        <p:spPr>
          <a:xfrm>
            <a:off x="997176" y="783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*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94A80-C595-04D3-A30D-2D5BE131513E}"/>
              </a:ext>
            </a:extLst>
          </p:cNvPr>
          <p:cNvSpPr txBox="1"/>
          <p:nvPr/>
        </p:nvSpPr>
        <p:spPr>
          <a:xfrm>
            <a:off x="258648" y="57446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*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51AAF9-F7C5-9AF6-783F-1BADBB626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005875"/>
              </p:ext>
            </p:extLst>
          </p:nvPr>
        </p:nvGraphicFramePr>
        <p:xfrm>
          <a:off x="284163" y="1864760"/>
          <a:ext cx="73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342720" progId="Equation.DSMT4">
                  <p:embed/>
                </p:oleObj>
              </mc:Choice>
              <mc:Fallback>
                <p:oleObj name="Equation" r:id="rId14" imgW="736560" imgH="3427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11B9759-9121-F93A-CF5F-6900B231A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4163" y="1864760"/>
                        <a:ext cx="736600" cy="342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87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F03F-7ABC-149B-9C56-D309C874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CF8876-94FE-0E73-A1FA-E4DA7FC9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2" name="CaixaDeTexto 27">
            <a:extLst>
              <a:ext uri="{FF2B5EF4-FFF2-40B4-BE49-F238E27FC236}">
                <a16:creationId xmlns:a16="http://schemas.microsoft.com/office/drawing/2014/main" id="{D880ABB6-CB7A-3F71-2377-E3DD06DC8A75}"/>
              </a:ext>
            </a:extLst>
          </p:cNvPr>
          <p:cNvSpPr txBox="1"/>
          <p:nvPr/>
        </p:nvSpPr>
        <p:spPr>
          <a:xfrm>
            <a:off x="234042" y="1031791"/>
            <a:ext cx="438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equilibrium</a:t>
            </a:r>
            <a:endParaRPr lang="en-GB" sz="1800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73A03DE-5D3C-9DFC-F206-3A5C459F4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8967"/>
              </p:ext>
            </p:extLst>
          </p:nvPr>
        </p:nvGraphicFramePr>
        <p:xfrm>
          <a:off x="303411" y="1580880"/>
          <a:ext cx="1427478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5294" imgH="219232" progId="Equation.DSMT4">
                  <p:embed/>
                </p:oleObj>
              </mc:Choice>
              <mc:Fallback>
                <p:oleObj name="Equation" r:id="rId2" imgW="1085294" imgH="219232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8248A4A-F738-AC83-06DD-EFC61D829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411" y="1580880"/>
                        <a:ext cx="1427478" cy="28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5">
            <a:extLst>
              <a:ext uri="{FF2B5EF4-FFF2-40B4-BE49-F238E27FC236}">
                <a16:creationId xmlns:a16="http://schemas.microsoft.com/office/drawing/2014/main" id="{D77D0E7C-D3C9-3EB0-6257-731046960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364809"/>
              </p:ext>
            </p:extLst>
          </p:nvPr>
        </p:nvGraphicFramePr>
        <p:xfrm>
          <a:off x="171450" y="2047875"/>
          <a:ext cx="36750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393480" progId="Equation.DSMT4">
                  <p:embed/>
                </p:oleObj>
              </mc:Choice>
              <mc:Fallback>
                <p:oleObj name="Equation" r:id="rId4" imgW="2997000" imgH="393480" progId="Equation.DSMT4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1BD9E3BF-0D49-9F99-7A7B-DD0A73A21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1450" y="2047875"/>
                        <a:ext cx="3675063" cy="4826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6">
            <a:extLst>
              <a:ext uri="{FF2B5EF4-FFF2-40B4-BE49-F238E27FC236}">
                <a16:creationId xmlns:a16="http://schemas.microsoft.com/office/drawing/2014/main" id="{4FEBC8B7-8E42-8972-B93D-F3CEF7D2D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14501"/>
              </p:ext>
            </p:extLst>
          </p:nvPr>
        </p:nvGraphicFramePr>
        <p:xfrm>
          <a:off x="134938" y="2659063"/>
          <a:ext cx="6143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76560" imgH="419040" progId="Equation.DSMT4">
                  <p:embed/>
                </p:oleObj>
              </mc:Choice>
              <mc:Fallback>
                <p:oleObj name="Equation" r:id="rId6" imgW="4876560" imgH="41904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EC3E6A15-5DA4-5B40-3EE6-5116F0FF79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4938" y="2659063"/>
                        <a:ext cx="6143625" cy="5302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7">
            <a:extLst>
              <a:ext uri="{FF2B5EF4-FFF2-40B4-BE49-F238E27FC236}">
                <a16:creationId xmlns:a16="http://schemas.microsoft.com/office/drawing/2014/main" id="{C5D95517-F818-803C-A852-68E1C2E13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044430"/>
              </p:ext>
            </p:extLst>
          </p:nvPr>
        </p:nvGraphicFramePr>
        <p:xfrm>
          <a:off x="303411" y="4112536"/>
          <a:ext cx="1763712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215640" progId="Equation.DSMT4">
                  <p:embed/>
                </p:oleObj>
              </mc:Choice>
              <mc:Fallback>
                <p:oleObj name="Equation" r:id="rId8" imgW="1307880" imgH="21564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B357258B-45E2-F3AA-7E30-41D93F99C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3411" y="4112536"/>
                        <a:ext cx="1763712" cy="29051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9">
            <a:extLst>
              <a:ext uri="{FF2B5EF4-FFF2-40B4-BE49-F238E27FC236}">
                <a16:creationId xmlns:a16="http://schemas.microsoft.com/office/drawing/2014/main" id="{94C3CD77-550D-D2BE-1ACE-23A9BEE1A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733060"/>
              </p:ext>
            </p:extLst>
          </p:nvPr>
        </p:nvGraphicFramePr>
        <p:xfrm>
          <a:off x="231775" y="3346450"/>
          <a:ext cx="31369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25680" imgH="393480" progId="Equation.DSMT4">
                  <p:embed/>
                </p:oleObj>
              </mc:Choice>
              <mc:Fallback>
                <p:oleObj name="Equation" r:id="rId10" imgW="2425680" imgH="393480" progId="Equation.DSMT4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80714731-BBCE-60D3-249C-85BA84D37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1775" y="3346450"/>
                        <a:ext cx="3136900" cy="51117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7">
            <a:extLst>
              <a:ext uri="{FF2B5EF4-FFF2-40B4-BE49-F238E27FC236}">
                <a16:creationId xmlns:a16="http://schemas.microsoft.com/office/drawing/2014/main" id="{8ACF9681-7470-3309-2437-44F3A1BA6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660273"/>
              </p:ext>
            </p:extLst>
          </p:nvPr>
        </p:nvGraphicFramePr>
        <p:xfrm>
          <a:off x="328017" y="5045345"/>
          <a:ext cx="857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342720" progId="Equation.DSMT4">
                  <p:embed/>
                </p:oleObj>
              </mc:Choice>
              <mc:Fallback>
                <p:oleObj name="Equation" r:id="rId12" imgW="634680" imgH="342720" progId="Equation.DSMT4">
                  <p:embed/>
                  <p:pic>
                    <p:nvPicPr>
                      <p:cNvPr id="7" name="Objeto 7">
                        <a:extLst>
                          <a:ext uri="{FF2B5EF4-FFF2-40B4-BE49-F238E27FC236}">
                            <a16:creationId xmlns:a16="http://schemas.microsoft.com/office/drawing/2014/main" id="{C5D95517-F818-803C-A852-68E1C2E13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8017" y="5045345"/>
                        <a:ext cx="857250" cy="4635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A71B774-C2EE-538B-B1D9-FAF59AB77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682179"/>
              </p:ext>
            </p:extLst>
          </p:nvPr>
        </p:nvGraphicFramePr>
        <p:xfrm>
          <a:off x="322852" y="4573722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8840" imgH="342720" progId="Equation.DSMT4">
                  <p:embed/>
                </p:oleObj>
              </mc:Choice>
              <mc:Fallback>
                <p:oleObj name="Equation" r:id="rId14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2852" y="4573722"/>
                        <a:ext cx="889000" cy="342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851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A20F-2DC9-B1DC-1942-4EA2B3B9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89CBF8-0B93-69AF-E387-F4202332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Results</a:t>
            </a:r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084B1-E16A-8F3D-A487-5D370BF01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814" y="1743887"/>
            <a:ext cx="8229616" cy="457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87B42-69AE-927C-1063-0B22813DF782}"/>
              </a:ext>
            </a:extLst>
          </p:cNvPr>
          <p:cNvSpPr txBox="1"/>
          <p:nvPr/>
        </p:nvSpPr>
        <p:spPr>
          <a:xfrm>
            <a:off x="251459" y="9287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P_cr</a:t>
            </a:r>
            <a:r>
              <a:rPr lang="en-US" dirty="0"/>
              <a:t> [</a:t>
            </a:r>
            <a:r>
              <a:rPr lang="en-US" dirty="0" err="1"/>
              <a:t>kN</a:t>
            </a:r>
            <a:r>
              <a:rPr lang="en-US" dirty="0"/>
              <a:t>]: -10.2379</a:t>
            </a:r>
          </a:p>
          <a:p>
            <a:r>
              <a:rPr lang="en-US" dirty="0" err="1"/>
              <a:t>pressure_cr</a:t>
            </a:r>
            <a:r>
              <a:rPr lang="en-US" dirty="0"/>
              <a:t> [MPa]: -0.0521</a:t>
            </a:r>
          </a:p>
        </p:txBody>
      </p:sp>
    </p:spTree>
    <p:extLst>
      <p:ext uri="{BB962C8B-B14F-4D97-AF65-F5344CB8AC3E}">
        <p14:creationId xmlns:p14="http://schemas.microsoft.com/office/powerpoint/2010/main" val="68897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5BC5C4-7CD1-CD47-75E6-49D9D316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Results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7480A-8BFE-7EB3-CFDF-59C40F047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36" y="968822"/>
            <a:ext cx="7416000" cy="519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AB6189-C537-7EE8-3CF3-CDD36EFBB5E0}"/>
              </a:ext>
            </a:extLst>
          </p:cNvPr>
          <p:cNvSpPr txBox="1"/>
          <p:nvPr/>
        </p:nvSpPr>
        <p:spPr>
          <a:xfrm>
            <a:off x="251459" y="9287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P_cr</a:t>
            </a:r>
            <a:r>
              <a:rPr lang="en-US" dirty="0"/>
              <a:t> [</a:t>
            </a:r>
            <a:r>
              <a:rPr lang="en-US" dirty="0" err="1"/>
              <a:t>kN</a:t>
            </a:r>
            <a:r>
              <a:rPr lang="en-US" dirty="0"/>
              <a:t>]: -10.2379</a:t>
            </a:r>
          </a:p>
          <a:p>
            <a:r>
              <a:rPr lang="en-US" dirty="0" err="1"/>
              <a:t>pressure_cr</a:t>
            </a:r>
            <a:r>
              <a:rPr lang="en-US" dirty="0"/>
              <a:t> [MPa]: -0.0521</a:t>
            </a:r>
          </a:p>
        </p:txBody>
      </p:sp>
    </p:spTree>
    <p:extLst>
      <p:ext uri="{BB962C8B-B14F-4D97-AF65-F5344CB8AC3E}">
        <p14:creationId xmlns:p14="http://schemas.microsoft.com/office/powerpoint/2010/main" val="53817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2F39BE-327B-F561-B337-55CE83866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P. R. Santos and M. V. </a:t>
            </a:r>
            <a:r>
              <a:rPr lang="en-US" dirty="0" err="1"/>
              <a:t>Donadon</a:t>
            </a:r>
            <a:r>
              <a:rPr lang="en-US" dirty="0"/>
              <a:t>, “A semi-analytical model for buckling and stress</a:t>
            </a:r>
            <a:br>
              <a:rPr lang="en-US" dirty="0"/>
            </a:br>
            <a:r>
              <a:rPr lang="en-US" dirty="0"/>
              <a:t>analyses of pressurized composite cylinders,” </a:t>
            </a:r>
            <a:r>
              <a:rPr lang="en-US" i="1" dirty="0"/>
              <a:t>Journal of the Brazilian Society of</a:t>
            </a:r>
            <a:br>
              <a:rPr lang="en-US" i="1" dirty="0"/>
            </a:br>
            <a:r>
              <a:rPr lang="en-US" i="1" dirty="0"/>
              <a:t>Mechanical Sciences and Engineering</a:t>
            </a:r>
            <a:r>
              <a:rPr lang="en-US" dirty="0"/>
              <a:t>, vol. 45, no. 9, Sep. 2023, </a:t>
            </a:r>
            <a:r>
              <a:rPr lang="en-US" dirty="0" err="1"/>
              <a:t>doi</a:t>
            </a:r>
            <a:r>
              <a:rPr lang="en-US" dirty="0"/>
              <a:t>: 10.1007/s40430-</a:t>
            </a:r>
            <a:br>
              <a:rPr lang="en-US" dirty="0"/>
            </a:br>
            <a:r>
              <a:rPr lang="en-US" dirty="0"/>
              <a:t>023-04350-3. </a:t>
            </a:r>
          </a:p>
          <a:p>
            <a:endParaRPr lang="en-US" dirty="0"/>
          </a:p>
          <a:p>
            <a:r>
              <a:rPr lang="en-US" dirty="0"/>
              <a:t>P. R. dos Santos and M. V. </a:t>
            </a:r>
            <a:r>
              <a:rPr lang="en-US" dirty="0" err="1"/>
              <a:t>Donadon</a:t>
            </a:r>
            <a:r>
              <a:rPr lang="en-US" dirty="0"/>
              <a:t>, “A semi-analytical model for buckling and stress</a:t>
            </a:r>
            <a:br>
              <a:rPr lang="en-US" dirty="0"/>
            </a:br>
            <a:r>
              <a:rPr lang="en-US" dirty="0"/>
              <a:t>analyses of pressurized composite cylinders,” </a:t>
            </a:r>
            <a:r>
              <a:rPr lang="en-US" i="1" dirty="0"/>
              <a:t>Proceedings of the 6th Brazilian</a:t>
            </a:r>
            <a:br>
              <a:rPr lang="en-US" i="1" dirty="0"/>
            </a:br>
            <a:r>
              <a:rPr lang="en-US" i="1" dirty="0"/>
              <a:t>Conference on Composite Materials</a:t>
            </a:r>
            <a:r>
              <a:rPr lang="en-US" dirty="0"/>
              <a:t>, pp. 65–70, 2022, </a:t>
            </a:r>
            <a:r>
              <a:rPr lang="en-US" dirty="0" err="1"/>
              <a:t>doi</a:t>
            </a:r>
            <a:r>
              <a:rPr lang="en-US" dirty="0"/>
              <a:t>: 10.29327/566492 </a:t>
            </a:r>
            <a:br>
              <a:rPr lang="en-US" dirty="0"/>
            </a:br>
            <a:endParaRPr lang="en-US" dirty="0"/>
          </a:p>
          <a:p>
            <a:r>
              <a:rPr lang="en-US" dirty="0"/>
              <a:t>P. R. Santos, M. V </a:t>
            </a:r>
            <a:r>
              <a:rPr lang="en-US" dirty="0" err="1"/>
              <a:t>Donadon</a:t>
            </a:r>
            <a:r>
              <a:rPr lang="en-US" dirty="0"/>
              <a:t>, and M. A. Arbelo, “A Semi-Analytical Model for</a:t>
            </a:r>
            <a:br>
              <a:rPr lang="en-US" dirty="0"/>
            </a:br>
            <a:r>
              <a:rPr lang="en-US" dirty="0"/>
              <a:t>Stability Analyses of Composite Cylinders Accounting for Loading and Geometrical</a:t>
            </a:r>
            <a:br>
              <a:rPr lang="en-US" dirty="0"/>
            </a:br>
            <a:r>
              <a:rPr lang="en-US" dirty="0"/>
              <a:t>Imperfections Effects,” in </a:t>
            </a:r>
            <a:r>
              <a:rPr lang="en-US" i="1" dirty="0"/>
              <a:t>Proceedings of the 7th Brazilian Conference on Composite</a:t>
            </a:r>
            <a:br>
              <a:rPr lang="en-US" i="1" dirty="0"/>
            </a:br>
            <a:r>
              <a:rPr lang="en-US" i="1" dirty="0"/>
              <a:t>Materials (BCCM)</a:t>
            </a:r>
            <a:r>
              <a:rPr lang="en-US" dirty="0"/>
              <a:t>, </a:t>
            </a:r>
            <a:r>
              <a:rPr lang="en-US" dirty="0" err="1"/>
              <a:t>Universidade</a:t>
            </a:r>
            <a:r>
              <a:rPr lang="en-US" dirty="0"/>
              <a:t> de Brasília, 2024, pp. 324–331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A1D724-2936-BF14-2EDB-9A45E6EB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21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4933</TotalTime>
  <Words>247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Tema do Office</vt:lpstr>
      <vt:lpstr>Slide do think-cell</vt:lpstr>
      <vt:lpstr>Equation</vt:lpstr>
      <vt:lpstr>Buckling Method for Composite Cylinders  Under Axial Loading and External Pressure</vt:lpstr>
      <vt:lpstr>Load Case</vt:lpstr>
      <vt:lpstr>Formulation</vt:lpstr>
      <vt:lpstr>--</vt:lpstr>
      <vt:lpstr>--</vt:lpstr>
      <vt:lpstr>Results</vt:lpstr>
      <vt:lpstr>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Ritz for Cylinders</dc:title>
  <dc:creator>Plínio Santos</dc:creator>
  <cp:lastModifiedBy>Plínio Santos</cp:lastModifiedBy>
  <cp:revision>61</cp:revision>
  <dcterms:created xsi:type="dcterms:W3CDTF">2022-05-29T23:40:24Z</dcterms:created>
  <dcterms:modified xsi:type="dcterms:W3CDTF">2026-09-17T23:45:59Z</dcterms:modified>
</cp:coreProperties>
</file>